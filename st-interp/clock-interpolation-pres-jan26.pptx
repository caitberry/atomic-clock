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58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8B72"/>
    <a:srgbClr val="B9491E"/>
    <a:srgbClr val="94A6C8"/>
    <a:srgbClr val="020924"/>
    <a:srgbClr val="5D9577"/>
    <a:srgbClr val="ACC2E5"/>
    <a:srgbClr val="193968"/>
    <a:srgbClr val="C4DCFF"/>
    <a:srgbClr val="20273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4"/>
    <p:restoredTop sz="86357"/>
  </p:normalViewPr>
  <p:slideViewPr>
    <p:cSldViewPr snapToGrid="0" snapToObjects="1" showGuides="1">
      <p:cViewPr>
        <p:scale>
          <a:sx n="125" d="100"/>
          <a:sy n="125" d="100"/>
        </p:scale>
        <p:origin x="-96" y="14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66" d="100"/>
        <a:sy n="66" d="100"/>
      </p:scale>
      <p:origin x="0" y="-1459"/>
    </p:cViewPr>
  </p:sorterViewPr>
  <p:notesViewPr>
    <p:cSldViewPr snapToGrid="0" snapToObjects="1">
      <p:cViewPr varScale="1">
        <p:scale>
          <a:sx n="140" d="100"/>
          <a:sy n="140" d="100"/>
        </p:scale>
        <p:origin x="2512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CF6E1-0A4A-D745-ABA3-2094B2ECBFF0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BA844-DEE4-C746-B0B9-DA9D9D9B4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96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BA844-DEE4-C746-B0B9-DA9D9D9B4B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521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BA844-DEE4-C746-B0B9-DA9D9D9B4B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27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BD0B5-ECC8-B855-C4EE-A42D4099D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D8F85-1875-457D-B944-C38D54700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802A6-2B17-ECB3-3FD2-6A279E4EC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90C7D-5F3E-B204-2629-3F196EB88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BA844-DEE4-C746-B0B9-DA9D9D9B4B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17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D989-2F69-6335-7578-11D222159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BA4F33-0C4C-CD7F-BB6F-A3F494B49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3237CB-8026-FD72-3159-203D2ACB1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73B45-C398-B3BE-58D0-31942C5BA7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BA844-DEE4-C746-B0B9-DA9D9D9B4B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5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BD228-B406-50F7-CB36-415B3E238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50C15-D783-4DB4-DF7E-14057C4933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1E0B7-BC8A-1E50-52C3-4B11B40A5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77415-D863-92A6-31CB-A29601FC80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BA844-DEE4-C746-B0B9-DA9D9D9B4B9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32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3CE24-2724-AD3B-C103-603C8CB7D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FF920-E74E-4149-DB73-D396E503D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267A1-5B68-FCF6-A41B-31E127737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05035-AF45-9DB9-D84D-EB04EAACA0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BA844-DEE4-C746-B0B9-DA9D9D9B4B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619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F226F-8397-09C5-8FD6-9B0D0936C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A421A5-ADDE-1346-3E73-D1A1D227B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23E08-C747-A4DC-48F3-44C767FF6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375FF-BE03-BF25-B516-09D6521D8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BA844-DEE4-C746-B0B9-DA9D9D9B4B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54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99DF9-D9B5-7046-EB22-0486C9504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4076D0-73B0-6EEF-BA27-5D0CE409C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8251CA-0543-CA70-B765-25564412F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6D8C3-22F2-D53A-D31C-67CFDDC41F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BA844-DEE4-C746-B0B9-DA9D9D9B4B9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2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BB9AB-C547-C6E2-270F-1F807819B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49062-5B42-4DEA-E180-6BC01DA81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1005A-12B1-4587-AA80-70348C95A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E1996-5712-9749-0B00-C009114CCC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BA844-DEE4-C746-B0B9-DA9D9D9B4B9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21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7DBDE-A904-2C7A-2032-9F94F8404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D7963-9FD1-C9F6-7A26-8AD9A4874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33816-0F3D-84C9-BACA-E60A47F78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AA72C-DA1A-AB30-D196-7C2AE9EB6C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BA844-DEE4-C746-B0B9-DA9D9D9B4B9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06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F3288-2F6A-A771-9A90-13AAB582A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C42E1F-545A-5F71-FDBA-3DDFB76FF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48793-9176-89E5-93A7-83CCF3EF5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26563-8758-604C-5B23-09C6D2FD2B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BA844-DEE4-C746-B0B9-DA9D9D9B4B9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997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38C3F-29C1-0509-0196-71DED6DCA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024F92-6B98-AA96-09B4-6FE0D7FB3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54D92-FE6D-BBB8-723F-4EC02DD0A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2B5F1-BCD7-4837-FEBD-6712249E43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BA844-DEE4-C746-B0B9-DA9D9D9B4B9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744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8BE0BDF-0C95-8B49-84ED-905DED0D6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0338"/>
            <a:ext cx="12228755" cy="687867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D57BFF6-77BE-8442-93ED-FFDC8E161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1575" y="947513"/>
            <a:ext cx="12290612" cy="0"/>
          </a:xfrm>
          <a:prstGeom prst="line">
            <a:avLst/>
          </a:prstGeom>
          <a:ln w="25400">
            <a:solidFill>
              <a:srgbClr val="2754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E794A8F-6352-2B45-86C5-9179E4BBC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839" y="1682347"/>
            <a:ext cx="10463809" cy="675323"/>
          </a:xfrm>
        </p:spPr>
        <p:txBody>
          <a:bodyPr anchor="b">
            <a:noAutofit/>
          </a:bodyPr>
          <a:lstStyle>
            <a:lvl1pPr algn="l">
              <a:defRPr sz="60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7B5CE-1A1B-9D41-B8D8-6D06D433A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6868-B405-CA44-B412-5D6C4F518A0C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24CD8-9E63-C64D-B6B8-84B3B0642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4E5BB74-2191-4A46-A928-051FD2C6A54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42030" y="6336323"/>
            <a:ext cx="3669323" cy="521677"/>
          </a:xfrm>
        </p:spPr>
        <p:txBody>
          <a:bodyPr/>
          <a:lstStyle>
            <a:lvl1pPr marL="0" indent="0" algn="r">
              <a:buNone/>
              <a:defRPr b="0">
                <a:solidFill>
                  <a:srgbClr val="C4DCFF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629F26-A907-90AC-57FC-AD23525C6E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251" y="-208722"/>
            <a:ext cx="6061705" cy="143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24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F4BE-40B8-144A-9D54-23B78E3AA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13215-FDAA-154F-967B-CE23C3346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CF5BF-A748-DB47-BF3F-3ADB26A4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F5AF-E0DF-6E43-A1D7-F5FEFFC73166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9A668-5308-374A-A0F0-7F1E52D0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107C0-9B05-8F45-903D-464476525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71D35-3A4C-544C-8023-6D77DCD91F7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55C6F-E7F4-A34D-83D6-1B9F5F22E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675"/>
            <a:ext cx="12228755" cy="68786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1215427-2CB9-7249-AAA0-192D17B2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0675"/>
            <a:ext cx="12228755" cy="968188"/>
          </a:xfrm>
          <a:prstGeom prst="rect">
            <a:avLst/>
          </a:prstGeom>
          <a:solidFill>
            <a:srgbClr val="071525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799A77-F852-864D-8D2E-6A3FA2BF0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-11575" y="947513"/>
            <a:ext cx="12290612" cy="0"/>
          </a:xfrm>
          <a:prstGeom prst="line">
            <a:avLst/>
          </a:prstGeom>
          <a:ln w="25400">
            <a:solidFill>
              <a:srgbClr val="27549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306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F4BE-40B8-144A-9D54-23B78E3AA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13215-FDAA-154F-967B-CE23C3346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CF5BF-A748-DB47-BF3F-3ADB26A4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7F5AF-E0DF-6E43-A1D7-F5FEFFC73166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9A668-5308-374A-A0F0-7F1E52D0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107C0-9B05-8F45-903D-464476525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71D35-3A4C-544C-8023-6D77DCD91F7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55C6F-E7F4-A34D-83D6-1B9F5F22E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0675"/>
            <a:ext cx="12228755" cy="687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788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3C90A5-F44E-D742-B74E-CEBB672FE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056191"/>
            <a:ext cx="12192000" cy="3939555"/>
          </a:xfr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A71C6-160C-1841-90A5-876C4158C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6868-B405-CA44-B412-5D6C4F518A0C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3CE40-C079-EE45-965F-E397E3D91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F9348-28A0-6945-96CF-85CF0F45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5A3A-841E-C04D-A6C3-2A644B41F8F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1D03CF-4195-8B4C-8440-C8D5A2001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8712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AD648C0-456D-5343-BD61-038F35AE0ED4}"/>
              </a:ext>
            </a:extLst>
          </p:cNvPr>
          <p:cNvSpPr txBox="1">
            <a:spLocks/>
          </p:cNvSpPr>
          <p:nvPr userDrawn="1"/>
        </p:nvSpPr>
        <p:spPr>
          <a:xfrm>
            <a:off x="574040" y="-2844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>
                <a:solidFill>
                  <a:schemeClr val="bg1"/>
                </a:solidFill>
                <a:latin typeface="Gill Sans SemiBold" panose="020B0502020104020203" pitchFamily="34" charset="-79"/>
                <a:ea typeface="+mj-ea"/>
                <a:cs typeface="Gill Sans SemiBold" panose="020B0502020104020203" pitchFamily="34" charset="-79"/>
              </a:defRPr>
            </a:lvl1pPr>
          </a:lstStyle>
          <a:p>
            <a:r>
              <a:rPr lang="en-US" sz="4000" b="0" dirty="0">
                <a:latin typeface="Calibri" panose="020F0502020204030204" pitchFamily="34" charset="0"/>
                <a:cs typeface="Calibri" panose="020F0502020204030204" pitchFamily="34" charset="0"/>
              </a:rPr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C28DA88-3FC6-314D-8BB4-B45B12D75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819" y="5213933"/>
            <a:ext cx="9824225" cy="10753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3C1793-2604-6D47-BBA8-DF58C3476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0696074" y="508222"/>
            <a:ext cx="1119415" cy="29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438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4" userDrawn="1">
          <p15:clr>
            <a:srgbClr val="FBAE40"/>
          </p15:clr>
        </p15:guide>
        <p15:guide id="2" pos="3816" userDrawn="1">
          <p15:clr>
            <a:srgbClr val="FBAE40"/>
          </p15:clr>
        </p15:guide>
        <p15:guide id="3" pos="368" userDrawn="1">
          <p15:clr>
            <a:srgbClr val="FBAE40"/>
          </p15:clr>
        </p15:guide>
        <p15:guide id="4" pos="7315" userDrawn="1">
          <p15:clr>
            <a:srgbClr val="FBAE40"/>
          </p15:clr>
        </p15:guide>
        <p15:guide id="5" orient="horz" pos="5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C9533BF-1B93-2A43-BA34-0F3A82D7F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871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5A012D-B070-7A49-BBFF-079F2561A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-22034"/>
            <a:ext cx="10515600" cy="1325563"/>
          </a:xfrm>
        </p:spPr>
        <p:txBody>
          <a:bodyPr>
            <a:normAutofit/>
          </a:bodyPr>
          <a:lstStyle>
            <a:lvl1pPr>
              <a:defRPr sz="4000" b="0" i="0">
                <a:solidFill>
                  <a:schemeClr val="bg1"/>
                </a:solidFill>
                <a:latin typeface="+mn-lt"/>
                <a:cs typeface="Gill Sans SemiBold" panose="020B0502020104020203" pitchFamily="34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88373-B974-7948-9839-60119604B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590693"/>
            <a:ext cx="3869473" cy="250821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EF32D-C8B6-BA4F-BA24-DA606CEC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6868-B405-CA44-B412-5D6C4F518A0C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AB533-0985-E44A-9957-3DDE711C7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5A9F8-B433-CD4D-B0E5-00FDB974B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5A3A-841E-C04D-A6C3-2A644B41F8F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564AE5A-5633-B34B-B7DD-4DCEFBFC0B1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104248" y="3590693"/>
            <a:ext cx="3939168" cy="250821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2884886-4728-6142-8698-38627184E6B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83498" y="3590693"/>
            <a:ext cx="3908502" cy="250821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C17D88D-1B35-A843-BA46-506AB4A87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253" y="1622502"/>
            <a:ext cx="10753493" cy="1143000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AD91200-3642-8946-A772-E48D2472F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0696074" y="508222"/>
            <a:ext cx="1119415" cy="29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56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3" pos="384" userDrawn="1">
          <p15:clr>
            <a:srgbClr val="FBAE40"/>
          </p15:clr>
        </p15:guide>
        <p15:guide id="4" pos="7296" userDrawn="1">
          <p15:clr>
            <a:srgbClr val="FBAE40"/>
          </p15:clr>
        </p15:guide>
        <p15:guide id="5" orient="horz" pos="50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A35D9A-EEF1-DD46-987E-6CF872511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871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9C6585-2022-8F42-81FB-4B5D5B37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796" y="365125"/>
            <a:ext cx="10515600" cy="527241"/>
          </a:xfrm>
        </p:spPr>
        <p:txBody>
          <a:bodyPr>
            <a:noAutofit/>
          </a:bodyPr>
          <a:lstStyle>
            <a:lvl1pPr>
              <a:defRPr sz="4000" b="0" i="0">
                <a:solidFill>
                  <a:schemeClr val="bg1"/>
                </a:solidFill>
                <a:latin typeface="+mn-lt"/>
                <a:cs typeface="Gill Sans SemiBold" panose="020B0502020104020203" pitchFamily="34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D1336-869F-DC49-B576-75531AB2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6868-B405-CA44-B412-5D6C4F518A0C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E37B73-0EC3-AE48-9FAC-E88B29D8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31F2E-9BEB-634E-BB98-A0F61BD2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5A3A-841E-C04D-A6C3-2A644B41F8F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7963FD0-7962-5C46-90EE-E88510539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079653"/>
            <a:ext cx="6099717" cy="57783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7FACD73-4E5D-A345-B9F2-A050263D9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18609" y="1757943"/>
            <a:ext cx="5183188" cy="3684588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rgbClr val="002060"/>
                </a:solidFill>
              </a:defRPr>
            </a:lvl1pPr>
            <a:lvl2pPr marL="800100" indent="-342900">
              <a:buClr>
                <a:srgbClr val="5D8B72"/>
              </a:buClr>
              <a:buFont typeface="Wingdings" pitchFamily="2" charset="2"/>
              <a:buChar char="§"/>
              <a:defRPr sz="32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528B23-895C-5C4C-B680-35A98899E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0696074" y="508222"/>
            <a:ext cx="1119415" cy="29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33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CA35D9A-EEF1-DD46-987E-6CF872511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871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9C6585-2022-8F42-81FB-4B5D5B37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796" y="365125"/>
            <a:ext cx="10515600" cy="527241"/>
          </a:xfrm>
        </p:spPr>
        <p:txBody>
          <a:bodyPr>
            <a:noAutofit/>
          </a:bodyPr>
          <a:lstStyle>
            <a:lvl1pPr>
              <a:defRPr sz="4000" b="0" i="0">
                <a:solidFill>
                  <a:schemeClr val="bg1"/>
                </a:solidFill>
                <a:latin typeface="+mn-lt"/>
                <a:cs typeface="Gill Sans SemiBold" panose="020B0502020104020203" pitchFamily="34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9D1336-869F-DC49-B576-75531AB2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6868-B405-CA44-B412-5D6C4F518A0C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E37B73-0EC3-AE48-9FAC-E88B29D8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31F2E-9BEB-634E-BB98-A0F61BD2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5A3A-841E-C04D-A6C3-2A644B41F8F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7963FD0-7962-5C46-90EE-E885105398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079653"/>
            <a:ext cx="6875332" cy="57783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7FACD73-4E5D-A345-B9F2-A050263D9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35312" y="1638334"/>
            <a:ext cx="5183188" cy="3684588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  <a:lvl2pPr marL="800100" indent="-342900">
              <a:buClr>
                <a:srgbClr val="5D8B7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528B23-895C-5C4C-B680-35A98899E6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0696074" y="508222"/>
            <a:ext cx="1119415" cy="29540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85038276-3D99-374D-8C08-8B4EE9100505}"/>
              </a:ext>
            </a:extLst>
          </p:cNvPr>
          <p:cNvGrpSpPr/>
          <p:nvPr userDrawn="1"/>
        </p:nvGrpSpPr>
        <p:grpSpPr>
          <a:xfrm>
            <a:off x="6875332" y="4948518"/>
            <a:ext cx="5316667" cy="1909482"/>
            <a:chOff x="6875332" y="4948518"/>
            <a:chExt cx="5316667" cy="190948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C822032-AB25-264F-84DF-832153AB9E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875332" y="4948518"/>
              <a:ext cx="5316667" cy="1909482"/>
            </a:xfrm>
            <a:prstGeom prst="rect">
              <a:avLst/>
            </a:prstGeom>
            <a:solidFill>
              <a:srgbClr val="5D8B72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76B19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1D026-7836-5C4C-8D2C-5CE052626F44}"/>
                </a:ext>
              </a:extLst>
            </p:cNvPr>
            <p:cNvSpPr/>
            <p:nvPr/>
          </p:nvSpPr>
          <p:spPr>
            <a:xfrm>
              <a:off x="7235312" y="5517685"/>
              <a:ext cx="4865469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endParaRPr lang="en-US" sz="22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A441141-9365-7740-8DBA-7BD811A087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35312" y="5219700"/>
            <a:ext cx="4675188" cy="1397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40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5BF363-59FF-E54E-A0B5-E35D493FB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871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B2D7EB-E182-4543-8CCE-37CF8E507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795" y="-22034"/>
            <a:ext cx="10515600" cy="1325563"/>
          </a:xfrm>
        </p:spPr>
        <p:txBody>
          <a:bodyPr>
            <a:normAutofit/>
          </a:bodyPr>
          <a:lstStyle>
            <a:lvl1pPr>
              <a:defRPr sz="4000" b="0" i="0">
                <a:solidFill>
                  <a:schemeClr val="bg1"/>
                </a:solidFill>
                <a:latin typeface="+mn-lt"/>
                <a:cs typeface="Gill Sans SemiBold" panose="020B0502020104020203" pitchFamily="34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4195B3-35E3-C543-9CBB-AD4A8EB72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0696074" y="508222"/>
            <a:ext cx="1119415" cy="2954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97A970-8AEE-EF42-BDF8-26B87235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6868-B405-CA44-B412-5D6C4F518A0C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599B2C-3002-AC47-B9C2-6C74CD2E3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634A8-2332-E045-8B38-51EC9F81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5A3A-841E-C04D-A6C3-2A644B41F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74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B434-E236-8945-8FEB-F9940E59C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23053-7412-EC42-952B-F3D3ED93E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A0226-E7CE-8143-8307-BD4050B44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6868-B405-CA44-B412-5D6C4F518A0C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6007E-C621-3048-98EA-20DED673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6A9D9-5F67-8448-BB27-B648D727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5A3A-841E-C04D-A6C3-2A644B41F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66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05F1A-A3CF-0047-A8BA-C75E80736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27262-4D83-C545-A69D-11927CC9E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44A2B-0445-E748-87AD-3F27274B8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ECA071-370B-3645-B900-7F3E13BC3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88D157-4D67-3B46-B8AF-958CE97FCA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920AF5-5E67-6F4F-AD26-29826B2D5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6868-B405-CA44-B412-5D6C4F518A0C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D25E99-A588-1F40-A418-48406BCBD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DE35B4-7239-0644-99A1-9F0EBD32E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5A3A-841E-C04D-A6C3-2A644B41F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89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FEFE-EB08-8142-A9C1-BF86AC840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52CA-0609-6A40-88C7-B5B3603A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6868-B405-CA44-B412-5D6C4F518A0C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C122A-DB09-6441-B421-444556F96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993787-BB75-E043-A6AA-76B546CD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5A3A-841E-C04D-A6C3-2A644B41F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38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19C1BD-5EDB-DF4B-BE1D-1A782E526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6868-B405-CA44-B412-5D6C4F518A0C}" type="datetimeFigureOut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4C54EB-E29C-1B44-B63D-C10BDE81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0FCCB-373E-CB49-A0CB-050C6BE60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5A3A-841E-C04D-A6C3-2A644B41F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44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B7AF4-42D2-CD4B-85FC-7523468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48928-3BFE-F447-B402-65F50FA4D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19467-CD7D-8D41-83D5-3ED02468C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77D00-AADD-D446-8253-81CC2603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6868-B405-CA44-B412-5D6C4F518A0C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48F71-67DD-F941-8627-9F8F4BA82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144A8-7257-C544-B581-FDF4613D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5A3A-841E-C04D-A6C3-2A644B41F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32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16E0F-9A23-E04A-A83B-D457797A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B94851-F6F6-D54E-AADB-F130E90C4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61F5F-9702-0644-9DC0-31047C5FF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71729-7B3C-264F-AE58-4ADAFFBCC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6868-B405-CA44-B412-5D6C4F518A0C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5553D-02E8-0C4B-896F-22CFD8A98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AC3B7-5EDC-C649-B68B-005FB7B6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5A3A-841E-C04D-A6C3-2A644B41F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8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7591B-3EF3-EF49-837D-78F018ADF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198533-3EC2-1946-AEFC-AD2A0A051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4BD49-E4DB-1640-8630-143D35F2C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6868-B405-CA44-B412-5D6C4F518A0C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4ABBC-D87D-654B-9B16-CDB03F61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A31FC-0854-4445-B748-79D852B7B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5A3A-841E-C04D-A6C3-2A644B41F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80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58B955-F8EA-C747-88B3-035F96FD74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F46B6-D95E-994B-B612-1D27BC9A2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01DC1-7BEF-0142-9C09-FD10C8DCB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F6868-B405-CA44-B412-5D6C4F518A0C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2FD19-0E10-2D44-A97A-B90BAE2AF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5E1B7-5110-764D-BB3E-06138BCB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5A3A-841E-C04D-A6C3-2A644B41F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34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396336-99F0-6E53-8C82-06D59C64BEF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1034"/>
            <a:ext cx="12220546" cy="686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04F393-B462-6924-59F7-D2D8201CAA22}"/>
              </a:ext>
            </a:extLst>
          </p:cNvPr>
          <p:cNvSpPr txBox="1"/>
          <p:nvPr userDrawn="1"/>
        </p:nvSpPr>
        <p:spPr>
          <a:xfrm>
            <a:off x="0" y="3429000"/>
            <a:ext cx="12191997" cy="3435744"/>
          </a:xfrm>
          <a:prstGeom prst="rect">
            <a:avLst/>
          </a:prstGeom>
          <a:gradFill flip="none" rotWithShape="1">
            <a:gsLst>
              <a:gs pos="0">
                <a:sysClr val="windowText" lastClr="000000">
                  <a:alpha val="90000"/>
                </a:sysClr>
              </a:gs>
              <a:gs pos="60000">
                <a:srgbClr val="000000">
                  <a:alpha val="80000"/>
                </a:srgbClr>
              </a:gs>
              <a:gs pos="100000">
                <a:srgbClr val="7F7F7F">
                  <a:alpha val="0"/>
                </a:srgbClr>
              </a:gs>
            </a:gsLst>
            <a:lin ang="16200000" scaled="1"/>
            <a:tileRect/>
          </a:gradFill>
        </p:spPr>
        <p:txBody>
          <a:bodyPr wrap="none" lIns="182880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A35D9A-EEF1-DD46-987E-6CF872511F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871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528B23-895C-5C4C-B680-35A98899E6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0696074" y="508222"/>
            <a:ext cx="1119415" cy="2954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3FAAB9C-4676-8C48-8CEF-A4CF6BE5B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795" y="-10745"/>
            <a:ext cx="10515600" cy="1325563"/>
          </a:xfrm>
        </p:spPr>
        <p:txBody>
          <a:bodyPr>
            <a:normAutofit/>
          </a:bodyPr>
          <a:lstStyle>
            <a:lvl1pPr>
              <a:defRPr sz="4000" b="0" i="0">
                <a:solidFill>
                  <a:schemeClr val="bg1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E7940-E5E1-4BBA-81A8-45EEA0C449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3088" y="1587500"/>
            <a:ext cx="10123487" cy="4692650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>
                <a:latin typeface="Century Gothic" panose="020B0502020202020204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>
                <a:latin typeface="Century Gothic" panose="020B0502020202020204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>
                <a:latin typeface="Century Gothic" panose="020B0502020202020204" pitchFamily="34" charset="0"/>
              </a:defRPr>
            </a:lvl3pPr>
            <a:lvl4pPr>
              <a:lnSpc>
                <a:spcPct val="100000"/>
              </a:lnSpc>
              <a:spcAft>
                <a:spcPts val="600"/>
              </a:spcAft>
              <a:defRPr>
                <a:latin typeface="Century Gothic" panose="020B0502020202020204" pitchFamily="34" charset="0"/>
              </a:defRPr>
            </a:lvl4pPr>
            <a:lvl5pPr>
              <a:lnSpc>
                <a:spcPct val="100000"/>
              </a:lnSpc>
              <a:spcAft>
                <a:spcPts val="600"/>
              </a:spcAft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BACF14B-143C-4E55-B8F6-58AF30291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61C45A3A-841E-C04D-A6C3-2A644B41F8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54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43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7B02D6-E535-0945-9835-AF44B4A75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2FC90-D1DA-CB42-87D3-934382067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D56EC-5AF3-B541-8BF2-8E9DEBBC27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F6868-B405-CA44-B412-5D6C4F518A0C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BA3C9-62A7-B646-A8AA-A05815B4FD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72593-F01B-3C40-B17B-E5E7A4EC5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45A3A-841E-C04D-A6C3-2A644B41F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22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5" r:id="rId3"/>
    <p:sldLayoutId id="2147483652" r:id="rId4"/>
    <p:sldLayoutId id="2147483650" r:id="rId5"/>
    <p:sldLayoutId id="2147483662" r:id="rId6"/>
    <p:sldLayoutId id="2147483664" r:id="rId7"/>
    <p:sldLayoutId id="2147483663" r:id="rId8"/>
    <p:sldLayoutId id="2147483651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B1FA6-92D4-B945-9015-1C671C4A6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365" y="1531418"/>
            <a:ext cx="10463809" cy="1612839"/>
          </a:xfrm>
        </p:spPr>
        <p:txBody>
          <a:bodyPr>
            <a:normAutofit fontScale="90000"/>
          </a:bodyPr>
          <a:lstStyle/>
          <a:p>
            <a:r>
              <a:rPr lang="en-US" dirty="0"/>
              <a:t>Interpolation for the alignment of Clock Frequency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6EDF7-ACB9-B941-9E7B-63A2190EC7E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42030" y="6235962"/>
            <a:ext cx="3669323" cy="521677"/>
          </a:xfrm>
        </p:spPr>
        <p:txBody>
          <a:bodyPr/>
          <a:lstStyle/>
          <a:p>
            <a:r>
              <a:rPr lang="en-US" dirty="0"/>
              <a:t>January, 16, 2026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B3F8FCE-BCEE-F197-309E-D239B7AE06CB}"/>
              </a:ext>
            </a:extLst>
          </p:cNvPr>
          <p:cNvSpPr txBox="1">
            <a:spLocks/>
          </p:cNvSpPr>
          <p:nvPr/>
        </p:nvSpPr>
        <p:spPr>
          <a:xfrm>
            <a:off x="510365" y="3144257"/>
            <a:ext cx="10463809" cy="5694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i="0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400" b="0" dirty="0"/>
              <a:t>Suzanne Thornton, NIST PREP Associate, SED</a:t>
            </a:r>
          </a:p>
        </p:txBody>
      </p:sp>
    </p:spTree>
    <p:extLst>
      <p:ext uri="{BB962C8B-B14F-4D97-AF65-F5344CB8AC3E}">
        <p14:creationId xmlns:p14="http://schemas.microsoft.com/office/powerpoint/2010/main" val="2430404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286DC33-DAC7-BE4F-87D7-D24660A13232}"/>
              </a:ext>
            </a:extLst>
          </p:cNvPr>
          <p:cNvSpPr txBox="1"/>
          <p:nvPr/>
        </p:nvSpPr>
        <p:spPr>
          <a:xfrm>
            <a:off x="8236146" y="6075396"/>
            <a:ext cx="32144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©Nicholas McIntosh Photography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9C186E-3B1A-314B-A00F-06DD1941EFE5}"/>
              </a:ext>
            </a:extLst>
          </p:cNvPr>
          <p:cNvSpPr txBox="1"/>
          <p:nvPr/>
        </p:nvSpPr>
        <p:spPr>
          <a:xfrm>
            <a:off x="-9167" y="6064881"/>
            <a:ext cx="21649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©Robert Rathe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AB5400-5048-5549-B43F-D1687B431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2990" y="1190417"/>
            <a:ext cx="5264987" cy="14719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Missing Al comb nu: 233 </a:t>
            </a:r>
          </a:p>
          <a:p>
            <a:r>
              <a:rPr lang="en-US" dirty="0"/>
              <a:t>Missing Sr comb nu: 203 </a:t>
            </a:r>
          </a:p>
          <a:p>
            <a:r>
              <a:rPr lang="en-US" dirty="0"/>
              <a:t>Missing Yb comb nu: 417</a:t>
            </a:r>
            <a:endParaRPr lang="en-US" dirty="0"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DEAE3-7FD4-1847-BBC9-CED99B10B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Missingness in comb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96997-4669-C783-C656-C29636E65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440" y="2527233"/>
            <a:ext cx="9761146" cy="411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151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26C8-8DEB-8081-D705-48397C886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B8F9B9E-03F4-60B2-42B9-91C52236C7D4}"/>
              </a:ext>
            </a:extLst>
          </p:cNvPr>
          <p:cNvSpPr txBox="1"/>
          <p:nvPr/>
        </p:nvSpPr>
        <p:spPr>
          <a:xfrm>
            <a:off x="8236146" y="6075396"/>
            <a:ext cx="32144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©Nicholas McIntosh Photography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A51A8F-9E2B-68AB-D1F0-00EA7D22AC93}"/>
              </a:ext>
            </a:extLst>
          </p:cNvPr>
          <p:cNvSpPr txBox="1"/>
          <p:nvPr/>
        </p:nvSpPr>
        <p:spPr>
          <a:xfrm>
            <a:off x="-9167" y="6064881"/>
            <a:ext cx="21649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©Robert Rathe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8D8BBA-EAC3-0192-9B11-DB13C6D6A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7143" y="1458276"/>
            <a:ext cx="10753493" cy="3459164"/>
          </a:xfrm>
        </p:spPr>
        <p:txBody>
          <a:bodyPr>
            <a:normAutofit/>
          </a:bodyPr>
          <a:lstStyle/>
          <a:p>
            <a:r>
              <a:rPr lang="en-US" dirty="0"/>
              <a:t>The following summaries represent how many shift data points were deemed “not good” based on the IS_GOOD indicator for each clock.</a:t>
            </a:r>
          </a:p>
          <a:p>
            <a:endParaRPr lang="en-US" dirty="0"/>
          </a:p>
          <a:p>
            <a:r>
              <a:rPr lang="en-US" dirty="0"/>
              <a:t>NA Al shift values: 81164 </a:t>
            </a:r>
          </a:p>
          <a:p>
            <a:r>
              <a:rPr lang="en-US" dirty="0"/>
              <a:t>NA Sr shift values: 0 </a:t>
            </a:r>
          </a:p>
          <a:p>
            <a:r>
              <a:rPr lang="en-US" dirty="0"/>
              <a:t>NA Yb shift values: 515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61037F-E7DD-CC6B-0FD3-C2ABBC325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Summary of “not good” shift data </a:t>
            </a:r>
          </a:p>
        </p:txBody>
      </p:sp>
    </p:spTree>
    <p:extLst>
      <p:ext uri="{BB962C8B-B14F-4D97-AF65-F5344CB8AC3E}">
        <p14:creationId xmlns:p14="http://schemas.microsoft.com/office/powerpoint/2010/main" val="543305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0CB37-FE16-F09F-A4E0-D43E90198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1CD9778-4806-C801-384A-968F11B40208}"/>
              </a:ext>
            </a:extLst>
          </p:cNvPr>
          <p:cNvSpPr txBox="1"/>
          <p:nvPr/>
        </p:nvSpPr>
        <p:spPr>
          <a:xfrm>
            <a:off x="8236146" y="6075396"/>
            <a:ext cx="32144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©Nicholas McIntosh Photography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E70B45-EECF-D681-87FF-1EE9704BB33B}"/>
              </a:ext>
            </a:extLst>
          </p:cNvPr>
          <p:cNvSpPr txBox="1"/>
          <p:nvPr/>
        </p:nvSpPr>
        <p:spPr>
          <a:xfrm>
            <a:off x="-9167" y="6064881"/>
            <a:ext cx="21649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©Robert Rathe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573AB8-B651-37B4-CE08-85099A01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Visualizing all shift data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3A4EEB-4992-267E-DFBC-223344B9E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781" y="1687707"/>
            <a:ext cx="5881370" cy="438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52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207A0-704B-1379-8013-99C3A8A9F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D2BD064-0B91-843F-843B-13B6F13EF521}"/>
              </a:ext>
            </a:extLst>
          </p:cNvPr>
          <p:cNvSpPr txBox="1"/>
          <p:nvPr/>
        </p:nvSpPr>
        <p:spPr>
          <a:xfrm>
            <a:off x="8236146" y="6075396"/>
            <a:ext cx="32144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©Nicholas McIntosh Photography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06A413-1D26-4A46-2952-29AEB338F888}"/>
              </a:ext>
            </a:extLst>
          </p:cNvPr>
          <p:cNvSpPr txBox="1"/>
          <p:nvPr/>
        </p:nvSpPr>
        <p:spPr>
          <a:xfrm>
            <a:off x="-9167" y="6064881"/>
            <a:ext cx="21649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©Robert Rathe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7570C9-EDED-E900-5662-1637EA09C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3521" y="1458276"/>
            <a:ext cx="11826240" cy="4404044"/>
          </a:xfrm>
        </p:spPr>
        <p:txBody>
          <a:bodyPr>
            <a:normAutofit/>
          </a:bodyPr>
          <a:lstStyle/>
          <a:p>
            <a:r>
              <a:rPr lang="en-US" dirty="0"/>
              <a:t>Comb start and end MJD: [ 60752.742818 , 60753.031848 ] </a:t>
            </a:r>
          </a:p>
          <a:p>
            <a:r>
              <a:rPr lang="en-US" dirty="0"/>
              <a:t>Al good shift start and end MJD: [ </a:t>
            </a:r>
            <a:r>
              <a:rPr lang="en-US" dirty="0">
                <a:highlight>
                  <a:srgbClr val="FFFF00"/>
                </a:highlight>
              </a:rPr>
              <a:t>60752.9509491</a:t>
            </a:r>
            <a:r>
              <a:rPr lang="en-US" dirty="0"/>
              <a:t> , </a:t>
            </a:r>
            <a:r>
              <a:rPr lang="en-US" dirty="0">
                <a:highlight>
                  <a:srgbClr val="FFFF00"/>
                </a:highlight>
              </a:rPr>
              <a:t>60753.0115278</a:t>
            </a:r>
            <a:r>
              <a:rPr lang="en-US" dirty="0"/>
              <a:t> ] </a:t>
            </a:r>
          </a:p>
          <a:p>
            <a:r>
              <a:rPr lang="en-US" dirty="0"/>
              <a:t>Sr good shift start and end MJD: [ 60752.78983432031 , 60753.01555496421 ] </a:t>
            </a:r>
          </a:p>
          <a:p>
            <a:r>
              <a:rPr lang="en-US" dirty="0"/>
              <a:t>Yb good shift start and end MJD: [ 60752.87540139 , 60753.01171893 ]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r>
              <a:rPr lang="en-US" dirty="0"/>
              <a:t>Last start time: </a:t>
            </a:r>
            <a:r>
              <a:rPr lang="en-US" dirty="0">
                <a:highlight>
                  <a:srgbClr val="FFFF00"/>
                </a:highlight>
              </a:rPr>
              <a:t>60752.9509491 </a:t>
            </a:r>
          </a:p>
          <a:p>
            <a:r>
              <a:rPr lang="en-US" dirty="0"/>
              <a:t>First end time: </a:t>
            </a:r>
            <a:r>
              <a:rPr lang="en-US" dirty="0">
                <a:highlight>
                  <a:srgbClr val="FFFF00"/>
                </a:highlight>
              </a:rPr>
              <a:t>60753.0115278</a:t>
            </a:r>
            <a:endParaRPr lang="en-US" dirty="0">
              <a:highlight>
                <a:srgbClr val="FFFF00"/>
              </a:highlight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B47006-6529-CB3A-DF75-8B23D9536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-69848"/>
            <a:ext cx="10515600" cy="1325563"/>
          </a:xfrm>
        </p:spPr>
        <p:txBody>
          <a:bodyPr>
            <a:normAutofit/>
          </a:bodyPr>
          <a:lstStyle/>
          <a:p>
            <a:r>
              <a:rPr lang="en-US" sz="3800" dirty="0"/>
              <a:t>Determining an overlapping window of observations</a:t>
            </a:r>
          </a:p>
        </p:txBody>
      </p:sp>
    </p:spTree>
    <p:extLst>
      <p:ext uri="{BB962C8B-B14F-4D97-AF65-F5344CB8AC3E}">
        <p14:creationId xmlns:p14="http://schemas.microsoft.com/office/powerpoint/2010/main" val="1832552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38E6A-3CBF-0AE6-0648-4B4EE9745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AAE102D-9A56-B1A8-B8FF-2A9C6C0B937B}"/>
              </a:ext>
            </a:extLst>
          </p:cNvPr>
          <p:cNvSpPr txBox="1"/>
          <p:nvPr/>
        </p:nvSpPr>
        <p:spPr>
          <a:xfrm>
            <a:off x="8236146" y="6075396"/>
            <a:ext cx="32144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©Nicholas McIntosh Photography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DAA658-BE5E-D13B-B69C-7B0A841DA9FA}"/>
              </a:ext>
            </a:extLst>
          </p:cNvPr>
          <p:cNvSpPr txBox="1"/>
          <p:nvPr/>
        </p:nvSpPr>
        <p:spPr>
          <a:xfrm>
            <a:off x="-9167" y="6064881"/>
            <a:ext cx="21649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©Robert Rathe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D48D9F-7CA4-DC2C-A8B5-59F4FBB3F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2080" y="1458276"/>
            <a:ext cx="11765279" cy="4454844"/>
          </a:xfrm>
        </p:spPr>
        <p:txBody>
          <a:bodyPr>
            <a:normAutofit/>
          </a:bodyPr>
          <a:lstStyle/>
          <a:p>
            <a:r>
              <a:rPr lang="en-US" dirty="0"/>
              <a:t>In this example, the results of filtering only the data that lie between the last start time and first end time are as follows. </a:t>
            </a:r>
          </a:p>
          <a:p>
            <a:endParaRPr lang="en-US" dirty="0"/>
          </a:p>
          <a:p>
            <a:r>
              <a:rPr lang="en-US" dirty="0" err="1"/>
              <a:t>nuAl</a:t>
            </a:r>
            <a:r>
              <a:rPr lang="en-US" dirty="0"/>
              <a:t>, </a:t>
            </a:r>
            <a:r>
              <a:rPr lang="en-US" dirty="0" err="1"/>
              <a:t>nuSr</a:t>
            </a:r>
            <a:r>
              <a:rPr lang="en-US" dirty="0"/>
              <a:t>, and </a:t>
            </a:r>
            <a:r>
              <a:rPr lang="en-US" dirty="0" err="1"/>
              <a:t>nuYb</a:t>
            </a:r>
            <a:r>
              <a:rPr lang="en-US" dirty="0"/>
              <a:t> start and end MJD: [ 60752.950939 , 60753.011522 ] </a:t>
            </a:r>
          </a:p>
          <a:p>
            <a:r>
              <a:rPr lang="en-US" dirty="0"/>
              <a:t>Al good shift start and end MJD: [ 60752.9509491 , 60753.0115162 ] </a:t>
            </a:r>
          </a:p>
          <a:p>
            <a:r>
              <a:rPr lang="en-US" dirty="0"/>
              <a:t>Sr good shift start and end MJD: [ 60752.95094887931 , 60753.01144822278 ] </a:t>
            </a:r>
          </a:p>
          <a:p>
            <a:r>
              <a:rPr lang="en-US" dirty="0"/>
              <a:t>Yb good shift start and end MJD: [ 60752.94844731 , 60753.01152291 ]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7729E-F2B6-1448-485F-1A16CF065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Overlapping window of observations</a:t>
            </a:r>
          </a:p>
        </p:txBody>
      </p:sp>
    </p:spTree>
    <p:extLst>
      <p:ext uri="{BB962C8B-B14F-4D97-AF65-F5344CB8AC3E}">
        <p14:creationId xmlns:p14="http://schemas.microsoft.com/office/powerpoint/2010/main" val="620661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28F03-3519-98A5-62F0-EF81CDA17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661EAF0-0C29-6105-293C-8CDA79FBA62D}"/>
              </a:ext>
            </a:extLst>
          </p:cNvPr>
          <p:cNvSpPr txBox="1"/>
          <p:nvPr/>
        </p:nvSpPr>
        <p:spPr>
          <a:xfrm>
            <a:off x="8236146" y="6075396"/>
            <a:ext cx="32144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©Nicholas McIntosh Photography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623927-F8FC-60AD-3398-BC1E83805FB6}"/>
              </a:ext>
            </a:extLst>
          </p:cNvPr>
          <p:cNvSpPr txBox="1"/>
          <p:nvPr/>
        </p:nvSpPr>
        <p:spPr>
          <a:xfrm>
            <a:off x="-9167" y="6064881"/>
            <a:ext cx="21649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©Robert Rathe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C08AEB-0FAD-3DAA-0884-A25C75208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7143" y="1458276"/>
            <a:ext cx="10753493" cy="3459164"/>
          </a:xfrm>
        </p:spPr>
        <p:txBody>
          <a:bodyPr>
            <a:normAutofit/>
          </a:bodyPr>
          <a:lstStyle/>
          <a:p>
            <a:r>
              <a:rPr lang="en-US" dirty="0"/>
              <a:t>Can see the need for interpolation due to misalignment in order to derive a ratio time series</a:t>
            </a:r>
          </a:p>
          <a:p>
            <a:endParaRPr lang="en-US" dirty="0">
              <a:cs typeface="Arial" panose="020B0604020202020204" pitchFamily="34" charset="0"/>
            </a:endParaRPr>
          </a:p>
          <a:p>
            <a:r>
              <a:rPr lang="en-US" dirty="0">
                <a:cs typeface="Arial" panose="020B0604020202020204" pitchFamily="34" charset="0"/>
              </a:rPr>
              <a:t>Clarify distinction between missing data and misaligned data. </a:t>
            </a:r>
          </a:p>
          <a:p>
            <a:r>
              <a:rPr lang="en-US" dirty="0">
                <a:cs typeface="Arial" panose="020B0604020202020204" pitchFamily="34" charset="0"/>
              </a:rPr>
              <a:t>Can incorporate an interpolation limit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75595B-6BA8-BE87-6B99-9DAB2338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Comparing MDJ for comb and shift data</a:t>
            </a:r>
          </a:p>
        </p:txBody>
      </p:sp>
    </p:spTree>
    <p:extLst>
      <p:ext uri="{BB962C8B-B14F-4D97-AF65-F5344CB8AC3E}">
        <p14:creationId xmlns:p14="http://schemas.microsoft.com/office/powerpoint/2010/main" val="1276598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D8FDA-FC86-098E-8AA6-72789B98D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888EF37-35AA-38E3-6F05-0EEFF48A7BF2}"/>
              </a:ext>
            </a:extLst>
          </p:cNvPr>
          <p:cNvSpPr txBox="1"/>
          <p:nvPr/>
        </p:nvSpPr>
        <p:spPr>
          <a:xfrm>
            <a:off x="8236146" y="6075396"/>
            <a:ext cx="32144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©Nicholas McIntosh Photography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6B0D4B-5757-D59A-30F2-CEB693F6F15F}"/>
              </a:ext>
            </a:extLst>
          </p:cNvPr>
          <p:cNvSpPr txBox="1"/>
          <p:nvPr/>
        </p:nvSpPr>
        <p:spPr>
          <a:xfrm>
            <a:off x="-9167" y="6064881"/>
            <a:ext cx="21649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©Robert Rathe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AB164033-6ED8-171F-DA06-1338A512F996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336147" y="1389217"/>
                <a:ext cx="10753493" cy="423132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Uses the actual time difference to construct the interpolation formula.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cs typeface="Arial" panose="020B0604020202020204" pitchFamily="34" charset="0"/>
                  </a:rPr>
                  <a:t> is the interpolated value to be substituted for the missing observation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𝑡</m:t>
                    </m:r>
                  </m:oMath>
                </a14:m>
                <a:endParaRPr lang="en-US" dirty="0"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cs typeface="Arial" panose="020B0604020202020204" pitchFamily="34" charset="0"/>
                  </a:rPr>
                  <a:t> are the known values surrounding the missing data with corresponding time indices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cs typeface="Arial" panose="020B0604020202020204" pitchFamily="34" charset="0"/>
                </a:endParaRPr>
              </a:p>
              <a:p>
                <a:endParaRPr lang="en-US" dirty="0">
                  <a:cs typeface="Arial" panose="020B0604020202020204" pitchFamily="34" charset="0"/>
                </a:endParaRPr>
              </a:p>
              <a:p>
                <a:endParaRPr lang="en-US" dirty="0">
                  <a:cs typeface="Arial" panose="020B0604020202020204" pitchFamily="34" charset="0"/>
                </a:endParaRPr>
              </a:p>
              <a:p>
                <a:r>
                  <a:rPr lang="en-US" dirty="0">
                    <a:cs typeface="Arial" panose="020B0604020202020204" pitchFamily="34" charset="0"/>
                  </a:rPr>
                  <a:t>The rate of change between the two known points is assumed to be constant in this technique. However the overall rate of change for the time series can vary.</a:t>
                </a:r>
              </a:p>
            </p:txBody>
          </p:sp>
        </mc:Choice>
        <mc:Fallback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AB164033-6ED8-171F-DA06-1338A512F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336147" y="1389217"/>
                <a:ext cx="10753493" cy="4231324"/>
              </a:xfrm>
              <a:blipFill>
                <a:blip r:embed="rId3"/>
                <a:stretch>
                  <a:fillRect l="-1061" t="-29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D44FB4EB-7EA8-7A7E-41AE-9B2A4F29C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Time-based linear interpolation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FE1F0D-09C6-8170-9EB6-4E8D43BC0A75}"/>
                  </a:ext>
                </a:extLst>
              </p:cNvPr>
              <p:cNvSpPr txBox="1"/>
              <p:nvPr/>
            </p:nvSpPr>
            <p:spPr>
              <a:xfrm>
                <a:off x="4249663" y="3350418"/>
                <a:ext cx="2729017" cy="5456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FE1F0D-09C6-8170-9EB6-4E8D43BC0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663" y="3350418"/>
                <a:ext cx="2729017" cy="545662"/>
              </a:xfrm>
              <a:prstGeom prst="rect">
                <a:avLst/>
              </a:prstGeom>
              <a:blipFill>
                <a:blip r:embed="rId4"/>
                <a:stretch>
                  <a:fillRect l="-463" t="-232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Linear interpolation - Wikipedia">
            <a:extLst>
              <a:ext uri="{FF2B5EF4-FFF2-40B4-BE49-F238E27FC236}">
                <a16:creationId xmlns:a16="http://schemas.microsoft.com/office/drawing/2014/main" id="{4FC85AD4-A207-55BC-B59B-A9BDFC09E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3439" y="2204878"/>
            <a:ext cx="2112729" cy="2112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529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597D5-60F6-3231-A6F1-912A8E12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143FA5A-B518-D90B-6E77-0D54EDAF621C}"/>
              </a:ext>
            </a:extLst>
          </p:cNvPr>
          <p:cNvSpPr txBox="1"/>
          <p:nvPr/>
        </p:nvSpPr>
        <p:spPr>
          <a:xfrm>
            <a:off x="8236146" y="6075396"/>
            <a:ext cx="32144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©Nicholas McIntosh Photography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F55600-4E9F-BD4C-7003-9516FE6C431D}"/>
              </a:ext>
            </a:extLst>
          </p:cNvPr>
          <p:cNvSpPr txBox="1"/>
          <p:nvPr/>
        </p:nvSpPr>
        <p:spPr>
          <a:xfrm>
            <a:off x="-9167" y="6064881"/>
            <a:ext cx="21649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©Robert Rathe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B8E5CD-1112-FD6F-BACB-8771AED12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7143" y="1458276"/>
            <a:ext cx="10753493" cy="3459164"/>
          </a:xfrm>
        </p:spPr>
        <p:txBody>
          <a:bodyPr>
            <a:normAutofit/>
          </a:bodyPr>
          <a:lstStyle/>
          <a:p>
            <a:r>
              <a:rPr lang="en-US" dirty="0"/>
              <a:t>TEXT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A3D512-5677-C0AB-5244-AE92F3354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Interpolation via Kalman filter smoothing</a:t>
            </a:r>
          </a:p>
        </p:txBody>
      </p:sp>
    </p:spTree>
    <p:extLst>
      <p:ext uri="{BB962C8B-B14F-4D97-AF65-F5344CB8AC3E}">
        <p14:creationId xmlns:p14="http://schemas.microsoft.com/office/powerpoint/2010/main" val="3797944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3A9F6-8EEC-E833-78E1-344F35EC4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2A02C70-45D9-03ED-70E3-538A9E156160}"/>
              </a:ext>
            </a:extLst>
          </p:cNvPr>
          <p:cNvSpPr txBox="1"/>
          <p:nvPr/>
        </p:nvSpPr>
        <p:spPr>
          <a:xfrm>
            <a:off x="8236146" y="6075396"/>
            <a:ext cx="32144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©Nicholas McIntosh Photography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61572-57DD-78A9-4A94-7A0367C2681F}"/>
              </a:ext>
            </a:extLst>
          </p:cNvPr>
          <p:cNvSpPr txBox="1"/>
          <p:nvPr/>
        </p:nvSpPr>
        <p:spPr>
          <a:xfrm>
            <a:off x="-9167" y="6064881"/>
            <a:ext cx="21649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©Robert Rathe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2775AC-CEB4-CDEF-46FB-C31D8339A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7143" y="1458276"/>
            <a:ext cx="10753493" cy="3459164"/>
          </a:xfrm>
        </p:spPr>
        <p:txBody>
          <a:bodyPr>
            <a:normAutofit/>
          </a:bodyPr>
          <a:lstStyle/>
          <a:p>
            <a:r>
              <a:rPr lang="en-US" dirty="0"/>
              <a:t>TEXT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F3CA10-48AD-2CE0-2A13-A16BF0A67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Other interpolation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4002414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39C2B-66E4-04E5-C329-49F7B1C79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D838081-213B-C602-0E7B-27BD6C21C3F7}"/>
              </a:ext>
            </a:extLst>
          </p:cNvPr>
          <p:cNvSpPr txBox="1"/>
          <p:nvPr/>
        </p:nvSpPr>
        <p:spPr>
          <a:xfrm>
            <a:off x="8236146" y="6075396"/>
            <a:ext cx="32144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©Nicholas McIntosh Photography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E4F2C0-A89B-2EFC-D4A3-47098A6418E3}"/>
              </a:ext>
            </a:extLst>
          </p:cNvPr>
          <p:cNvSpPr txBox="1"/>
          <p:nvPr/>
        </p:nvSpPr>
        <p:spPr>
          <a:xfrm>
            <a:off x="-9167" y="6064881"/>
            <a:ext cx="21649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©Robert Rathe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3514C1-A872-2F7D-537E-D57CA2DE5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7143" y="1458276"/>
            <a:ext cx="10753493" cy="3459164"/>
          </a:xfrm>
        </p:spPr>
        <p:txBody>
          <a:bodyPr>
            <a:normAutofit/>
          </a:bodyPr>
          <a:lstStyle/>
          <a:p>
            <a:r>
              <a:rPr lang="en-US" dirty="0"/>
              <a:t>TEXT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D80376-C6D2-0B6B-DC41-5612B6A8E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775379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0D100-2F9C-58E0-CC30-5188ED86F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C72B9EF-2D84-4CEF-619F-60544E433208}"/>
              </a:ext>
            </a:extLst>
          </p:cNvPr>
          <p:cNvSpPr txBox="1"/>
          <p:nvPr/>
        </p:nvSpPr>
        <p:spPr>
          <a:xfrm>
            <a:off x="8236146" y="6075396"/>
            <a:ext cx="32144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©Nicholas McIntosh Photography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B1EC90-BA97-2041-4CA5-06FA6863B62D}"/>
              </a:ext>
            </a:extLst>
          </p:cNvPr>
          <p:cNvSpPr txBox="1"/>
          <p:nvPr/>
        </p:nvSpPr>
        <p:spPr>
          <a:xfrm>
            <a:off x="-9167" y="6064881"/>
            <a:ext cx="21649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>
                    <a:alpha val="70000"/>
                  </a:schemeClr>
                </a:solidFill>
                <a:cs typeface="Arial" panose="020B0604020202020204" pitchFamily="34" charset="0"/>
              </a:rPr>
              <a:t>©Robert Rathe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645B0E-0D62-24F4-FB22-E54CC10BD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7143" y="1458276"/>
            <a:ext cx="10753493" cy="3459164"/>
          </a:xfrm>
        </p:spPr>
        <p:txBody>
          <a:bodyPr>
            <a:normAutofit/>
          </a:bodyPr>
          <a:lstStyle/>
          <a:p>
            <a:r>
              <a:rPr lang="en-US" dirty="0"/>
              <a:t>TEXT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D5C94-8EAB-40BD-5DA5-5D91459E5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16105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ist-overview-April-2025" id="{3FD42FA7-584E-8D48-88DF-EC9DE5878FD6}" vid="{C5EC2AA1-3D81-D24C-95C3-0CDF651FB3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36DDC62D2E614B8349009FA2B533FE" ma:contentTypeVersion="4" ma:contentTypeDescription="Create a new document." ma:contentTypeScope="" ma:versionID="18725572ae5737337d1ea29df23a8a8f">
  <xsd:schema xmlns:xsd="http://www.w3.org/2001/XMLSchema" xmlns:xs="http://www.w3.org/2001/XMLSchema" xmlns:p="http://schemas.microsoft.com/office/2006/metadata/properties" xmlns:ns2="e2356c7f-9a1b-41db-8d89-51bb5d8463d9" xmlns:ns3="01fcfbda-9643-476e-88fb-ce7a1280f67e" targetNamespace="http://schemas.microsoft.com/office/2006/metadata/properties" ma:root="true" ma:fieldsID="b7bb254471d871a85256d5242377c131" ns2:_="" ns3:_="">
    <xsd:import namespace="e2356c7f-9a1b-41db-8d89-51bb5d8463d9"/>
    <xsd:import namespace="01fcfbda-9643-476e-88fb-ce7a1280f67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356c7f-9a1b-41db-8d89-51bb5d8463d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fcfbda-9643-476e-88fb-ce7a1280f67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53DE5F-7153-4DC3-AEDE-BDC2BC789C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356c7f-9a1b-41db-8d89-51bb5d8463d9"/>
    <ds:schemaRef ds:uri="01fcfbda-9643-476e-88fb-ce7a1280f6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00138A-D0B6-4BD3-A39F-6BE448948C56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01fcfbda-9643-476e-88fb-ce7a1280f67e"/>
    <ds:schemaRef ds:uri="http://schemas.openxmlformats.org/package/2006/metadata/core-properties"/>
    <ds:schemaRef ds:uri="e2356c7f-9a1b-41db-8d89-51bb5d8463d9"/>
  </ds:schemaRefs>
</ds:datastoreItem>
</file>

<file path=customXml/itemProps3.xml><?xml version="1.0" encoding="utf-8"?>
<ds:datastoreItem xmlns:ds="http://schemas.openxmlformats.org/officeDocument/2006/customXml" ds:itemID="{9F4A7EDE-2846-4720-9905-EF57A5C0C3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7230</TotalTime>
  <Words>478</Words>
  <Application>Microsoft Macintosh PowerPoint</Application>
  <PresentationFormat>Widescreen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Century Gothic</vt:lpstr>
      <vt:lpstr>Wingdings</vt:lpstr>
      <vt:lpstr>Office Theme</vt:lpstr>
      <vt:lpstr>Interpolation for the alignment of Clock Frequency Data</vt:lpstr>
      <vt:lpstr>Missingness in comb data</vt:lpstr>
      <vt:lpstr>Summary of “not good” shift data </vt:lpstr>
      <vt:lpstr>Visualizing all shift data </vt:lpstr>
      <vt:lpstr>Determining an overlapping window of observations</vt:lpstr>
      <vt:lpstr>Overlapping window of observations</vt:lpstr>
      <vt:lpstr>Comparing MDJ for comb and shift data</vt:lpstr>
      <vt:lpstr>Time-based linear interpolation</vt:lpstr>
      <vt:lpstr>Interpolation via Kalman filter smoothing</vt:lpstr>
      <vt:lpstr>Other interpolation techniques</vt:lpstr>
      <vt:lpstr>TITLE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Hanacek, Natasha C. (Fed)</dc:creator>
  <cp:lastModifiedBy>Thornton, Suzanne M. (Assoc)</cp:lastModifiedBy>
  <cp:revision>155</cp:revision>
  <dcterms:created xsi:type="dcterms:W3CDTF">2018-05-08T12:44:50Z</dcterms:created>
  <dcterms:modified xsi:type="dcterms:W3CDTF">2026-01-06T15:18:32Z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0x0101007B36DDC62D2E614B8349009FA2B533FE</vt:lpwstr>
  </property>
</Properties>
</file>