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17"/>
  </p:notesMasterIdLst>
  <p:sldIdLst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84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5D8B72"/>
    <a:srgbClr val="B9491E"/>
    <a:srgbClr val="94A6C8"/>
    <a:srgbClr val="020924"/>
    <a:srgbClr val="5D9577"/>
    <a:srgbClr val="ACC2E5"/>
    <a:srgbClr val="193968"/>
    <a:srgbClr val="C4DCFF"/>
    <a:srgbClr val="202730"/>
    <a:srgbClr val="FFC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8539"/>
    <p:restoredTop sz="86374"/>
  </p:normalViewPr>
  <p:slideViewPr>
    <p:cSldViewPr snapToGrid="0" snapToObjects="1" showGuides="1">
      <p:cViewPr varScale="1">
        <p:scale>
          <a:sx n="126" d="100"/>
          <a:sy n="126" d="100"/>
        </p:scale>
        <p:origin x="208" y="448"/>
      </p:cViewPr>
      <p:guideLst>
        <p:guide orient="horz" pos="2184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20" d="100"/>
        <a:sy n="20" d="100"/>
      </p:scale>
      <p:origin x="0" y="0"/>
    </p:cViewPr>
  </p:notesTextViewPr>
  <p:sorterViewPr>
    <p:cViewPr>
      <p:scale>
        <a:sx n="66" d="100"/>
        <a:sy n="66" d="100"/>
      </p:scale>
      <p:origin x="0" y="-1459"/>
    </p:cViewPr>
  </p:sorterViewPr>
  <p:notesViewPr>
    <p:cSldViewPr snapToGrid="0" snapToObjects="1">
      <p:cViewPr varScale="1">
        <p:scale>
          <a:sx n="140" d="100"/>
          <a:sy n="140" d="100"/>
        </p:scale>
        <p:origin x="2512" y="216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presProps" Target="presProps.xml"/><Relationship Id="rId3" Type="http://schemas.openxmlformats.org/officeDocument/2006/relationships/customXml" Target="../customXml/item3.xml"/><Relationship Id="rId21" Type="http://schemas.openxmlformats.org/officeDocument/2006/relationships/tableStyles" Target="tableStyle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notesMaster" Target="notesMasters/notesMaster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10" Type="http://schemas.openxmlformats.org/officeDocument/2006/relationships/slide" Target="slides/slide6.xml"/><Relationship Id="rId19" Type="http://schemas.openxmlformats.org/officeDocument/2006/relationships/viewProps" Target="view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28CF6E1-0A4A-D745-ABA3-2094B2ECBFF0}" type="datetimeFigureOut">
              <a:rPr lang="en-US" smtClean="0"/>
              <a:t>12/30/25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C5BA844-DEE4-C746-B0B9-DA9D9D9B4B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599660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C5BA844-DEE4-C746-B0B9-DA9D9D9B4B90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152146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C5BA844-DEE4-C746-B0B9-DA9D9D9B4B90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02730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65D989-2F69-6335-7578-11D222159B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8BA4F33-0C4C-CD7F-BB6F-A3F494B492B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63237CB-8026-FD72-3159-203D2ACB14E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0373B45-C398-B3BE-58D0-31942C5BA72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C5BA844-DEE4-C746-B0B9-DA9D9D9B4B90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90590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EBD0B5-ECC8-B855-C4EE-A42D4099D0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5BD8F85-1875-457D-B944-C38D5470018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61802A6-2B17-ECB3-3FD2-6A279E4ECD4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2A90C7D-5F3E-B204-2629-3F196EB8802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C5BA844-DEE4-C746-B0B9-DA9D9D9B4B90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641765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CBD228-B406-50F7-CB36-415B3E2384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4450C15-D783-4DB4-DF7E-14057C4933D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F41E0B7-BC8A-1E50-52C3-4B11B40A5F3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6A77415-D863-92A6-31CB-A29601FC80C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C5BA844-DEE4-C746-B0B9-DA9D9D9B4B90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803228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F3CE24-2724-AD3B-C103-603C8CB7D7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16FF920-E74E-4149-DB73-D396E503D34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96267A1-5B68-FCF6-A41B-31E1277379C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2205035-AF45-9DB9-D84D-EB04EAACA06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C5BA844-DEE4-C746-B0B9-DA9D9D9B4B90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396194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1F226F-8397-09C5-8FD6-9B0D0936C1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BA421A5-ADDE-1346-3E73-D1A1D227B9F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5023E08-C747-A4DC-48F3-44C767FF60E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77375FF-BE03-BF25-B516-09D6521D886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C5BA844-DEE4-C746-B0B9-DA9D9D9B4B90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285475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D99DF9-D9B5-7046-EB22-0486C95042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24076D0-73B0-6EEF-BA27-5D0CE409CF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B8251CA-0543-CA70-B765-25564412F65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DC6D8C3-22F2-D53A-D31C-67CFDDC41F6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C5BA844-DEE4-C746-B0B9-DA9D9D9B4B90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17294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ABB9AB-C547-C6E2-270F-1F807819B8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0949062-5B42-4DEA-E180-6BC01DA81D4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201005A-12B1-4587-AA80-70348C95AFA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1EE1996-5712-9749-0B00-C009114CCC2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C5BA844-DEE4-C746-B0B9-DA9D9D9B4B90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972169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E7DBDE-A904-2C7A-2032-9F94F84041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8DD7963-9FD1-C9F6-7A26-8AD9A4874B0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9433816-0F3D-84C9-BACA-E60A47F7895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75AA72C-DA1A-AB30-D196-7C2AE9EB6C2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C5BA844-DEE4-C746-B0B9-DA9D9D9B4B90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26069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FF3288-2F6A-A771-9A90-13AAB582AE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BC42E1F-545A-5F71-FDBA-3DDFB76FF0D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9748793-9176-89E5-93A7-83CCF3EF53D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F826563-8758-604C-5B23-09C6D2FD2B3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C5BA844-DEE4-C746-B0B9-DA9D9D9B4B90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789973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738C3F-29C1-0509-0196-71DED6DCA5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8024F92-6B98-AA96-09B4-6FE0D7FB383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9254D92-FE6D-BBB8-723F-4EC02DD0ACD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1B2B5F1-BCD7-4837-FEBD-6712249E436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C5BA844-DEE4-C746-B0B9-DA9D9D9B4B90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474461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6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48BE0BDF-0C95-8B49-84ED-905DED0D6A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-10338"/>
            <a:ext cx="12228755" cy="6878675"/>
          </a:xfrm>
          <a:prstGeom prst="rect">
            <a:avLst/>
          </a:prstGeom>
        </p:spPr>
      </p:pic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1D57BFF6-77BE-8442-93ED-FFDC8E161B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-11575" y="947513"/>
            <a:ext cx="12290612" cy="0"/>
          </a:xfrm>
          <a:prstGeom prst="line">
            <a:avLst/>
          </a:prstGeom>
          <a:ln w="25400">
            <a:solidFill>
              <a:srgbClr val="27549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EE794A8F-6352-2B45-86C5-9179E4BBC25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97839" y="1682347"/>
            <a:ext cx="10463809" cy="675323"/>
          </a:xfrm>
        </p:spPr>
        <p:txBody>
          <a:bodyPr anchor="b">
            <a:noAutofit/>
          </a:bodyPr>
          <a:lstStyle>
            <a:lvl1pPr algn="l">
              <a:defRPr sz="6000" b="1" i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9E7B5CE-1A1B-9D41-B8D8-6D06D433AA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1F6868-B405-CA44-B412-5D6C4F518A0C}" type="datetimeFigureOut">
              <a:rPr lang="en-US" smtClean="0"/>
              <a:t>12/30/25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4D24CD8-9E63-C64D-B6B8-84B3B06428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34E5BB74-2191-4A46-A928-051FD2C6A547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8042030" y="6336323"/>
            <a:ext cx="3669323" cy="521677"/>
          </a:xfrm>
        </p:spPr>
        <p:txBody>
          <a:bodyPr/>
          <a:lstStyle>
            <a:lvl1pPr marL="0" indent="0" algn="r">
              <a:buNone/>
              <a:defRPr b="0">
                <a:solidFill>
                  <a:srgbClr val="C4DCFF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82629F26-A907-90AC-57FC-AD23525C6EE3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3251" y="-208722"/>
            <a:ext cx="6061705" cy="14312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224387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2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5EF4BE-40B8-144A-9D54-23B78E3AA6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4B13215-FDAA-154F-967B-CE23C33467C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E4CF5BF-A748-DB47-BF3F-3ADB26A49B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67F5AF-E0DF-6E43-A1D7-F5FEFFC73166}" type="datetimeFigureOut">
              <a:rPr lang="en-US" smtClean="0"/>
              <a:t>12/30/25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329A668-5308-374A-A0F0-7F1E52D01D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CE107C0-9B05-8F45-903D-464476525A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E71D35-3A4C-544C-8023-6D77DCD91F75}" type="slidenum">
              <a:rPr lang="en-US" smtClean="0"/>
              <a:t>‹#›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4A55C6F-E7F4-A34D-83D6-1B9F5F22E13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-20675"/>
            <a:ext cx="12228755" cy="6878674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11215427-2CB9-7249-AAA0-192D17B2B5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-20675"/>
            <a:ext cx="12228755" cy="968188"/>
          </a:xfrm>
          <a:prstGeom prst="rect">
            <a:avLst/>
          </a:prstGeom>
          <a:solidFill>
            <a:srgbClr val="071525">
              <a:alpha val="34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43799A77-F852-864D-8D2E-6A3FA2BF09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-11575" y="947513"/>
            <a:ext cx="12290612" cy="0"/>
          </a:xfrm>
          <a:prstGeom prst="line">
            <a:avLst/>
          </a:prstGeom>
          <a:ln w="25400">
            <a:solidFill>
              <a:srgbClr val="27549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753061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3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5EF4BE-40B8-144A-9D54-23B78E3AA6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4B13215-FDAA-154F-967B-CE23C33467C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E4CF5BF-A748-DB47-BF3F-3ADB26A49B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67F5AF-E0DF-6E43-A1D7-F5FEFFC73166}" type="datetimeFigureOut">
              <a:rPr lang="en-US" smtClean="0"/>
              <a:t>12/30/25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329A668-5308-374A-A0F0-7F1E52D01D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CE107C0-9B05-8F45-903D-464476525A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E71D35-3A4C-544C-8023-6D77DCD91F75}" type="slidenum">
              <a:rPr lang="en-US" smtClean="0"/>
              <a:t>‹#›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4A55C6F-E7F4-A34D-83D6-1B9F5F22E13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-20675"/>
            <a:ext cx="12228755" cy="68786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7378893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43C90A5-F44E-D742-B74E-CEBB672FE82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0" y="1056191"/>
            <a:ext cx="12192000" cy="3939555"/>
          </a:xfrm>
          <a:ln>
            <a:noFill/>
          </a:ln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46A71C6-160C-1841-90A5-876C4158CA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1F6868-B405-CA44-B412-5D6C4F518A0C}" type="datetimeFigureOut">
              <a:rPr lang="en-US" smtClean="0"/>
              <a:t>12/30/25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B13CE40-C079-EE45-965F-E397E3D91D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86F9348-28A0-6945-96CF-85CF0F45AF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C45A3A-841E-C04D-A6C3-2A644B41F8FE}" type="slidenum">
              <a:rPr lang="en-US" smtClean="0"/>
              <a:t>‹#›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E1D03CF-4195-8B4C-8440-C8D5A20017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1087129"/>
          </a:xfrm>
          <a:prstGeom prst="rect">
            <a:avLst/>
          </a:prstGeom>
        </p:spPr>
      </p:pic>
      <p:sp>
        <p:nvSpPr>
          <p:cNvPr id="10" name="Title 1">
            <a:extLst>
              <a:ext uri="{FF2B5EF4-FFF2-40B4-BE49-F238E27FC236}">
                <a16:creationId xmlns:a16="http://schemas.microsoft.com/office/drawing/2014/main" id="{3AD648C0-456D-5343-BD61-038F35AE0ED4}"/>
              </a:ext>
            </a:extLst>
          </p:cNvPr>
          <p:cNvSpPr txBox="1">
            <a:spLocks/>
          </p:cNvSpPr>
          <p:nvPr userDrawn="1"/>
        </p:nvSpPr>
        <p:spPr>
          <a:xfrm>
            <a:off x="574040" y="-28444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800" b="1" i="0" kern="1200">
                <a:solidFill>
                  <a:schemeClr val="bg1"/>
                </a:solidFill>
                <a:latin typeface="Gill Sans SemiBold" panose="020B0502020104020203" pitchFamily="34" charset="-79"/>
                <a:ea typeface="+mj-ea"/>
                <a:cs typeface="Gill Sans SemiBold" panose="020B0502020104020203" pitchFamily="34" charset="-79"/>
              </a:defRPr>
            </a:lvl1pPr>
          </a:lstStyle>
          <a:p>
            <a:r>
              <a:rPr lang="en-US" sz="4000" b="0" dirty="0">
                <a:latin typeface="Calibri" panose="020F0502020204030204" pitchFamily="34" charset="0"/>
                <a:cs typeface="Calibri" panose="020F0502020204030204" pitchFamily="34" charset="0"/>
              </a:rPr>
              <a:t>Click to edit Master title style</a:t>
            </a:r>
          </a:p>
        </p:txBody>
      </p: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5C28DA88-3FC6-314D-8BB4-B45B12D759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92819" y="5213933"/>
            <a:ext cx="9824225" cy="1075356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Edit Master text styles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383C1793-2604-6D47-BBA8-DF58C3476F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alphaModFix amt="70000"/>
          </a:blip>
          <a:stretch>
            <a:fillRect/>
          </a:stretch>
        </p:blipFill>
        <p:spPr>
          <a:xfrm>
            <a:off x="10696074" y="508222"/>
            <a:ext cx="1119415" cy="2954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243831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84" userDrawn="1">
          <p15:clr>
            <a:srgbClr val="FBAE40"/>
          </p15:clr>
        </p15:guide>
        <p15:guide id="2" pos="3816" userDrawn="1">
          <p15:clr>
            <a:srgbClr val="FBAE40"/>
          </p15:clr>
        </p15:guide>
        <p15:guide id="3" pos="368" userDrawn="1">
          <p15:clr>
            <a:srgbClr val="FBAE40"/>
          </p15:clr>
        </p15:guide>
        <p15:guide id="4" pos="7315" userDrawn="1">
          <p15:clr>
            <a:srgbClr val="FBAE40"/>
          </p15:clr>
        </p15:guide>
        <p15:guide id="5" orient="horz" pos="514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5C9533BF-1B93-2A43-BA34-0F3A82D7F3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108712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85A012D-B070-7A49-BBFF-079F2561A5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4040" y="-22034"/>
            <a:ext cx="10515600" cy="1325563"/>
          </a:xfrm>
        </p:spPr>
        <p:txBody>
          <a:bodyPr>
            <a:normAutofit/>
          </a:bodyPr>
          <a:lstStyle>
            <a:lvl1pPr>
              <a:defRPr sz="4000" b="0" i="0">
                <a:solidFill>
                  <a:schemeClr val="bg1"/>
                </a:solidFill>
                <a:latin typeface="+mn-lt"/>
                <a:cs typeface="Gill Sans SemiBold" panose="020B0502020104020203" pitchFamily="34" charset="-79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388373-B974-7948-9839-60119604B6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3590693"/>
            <a:ext cx="3869473" cy="2508211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9BEF32D-C8B6-BA4F-BA24-DA606CECF0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1F6868-B405-CA44-B412-5D6C4F518A0C}" type="datetimeFigureOut">
              <a:rPr lang="en-US" smtClean="0"/>
              <a:t>12/30/25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27AB533-0985-E44A-9957-3DDE711C78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D95A9F8-B433-CD4D-B0E5-00FDB974B1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C45A3A-841E-C04D-A6C3-2A644B41F8FE}" type="slidenum">
              <a:rPr lang="en-US" smtClean="0"/>
              <a:t>‹#›</a:t>
            </a:fld>
            <a:endParaRPr lang="en-US"/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F564AE5A-5633-B34B-B7DD-4DCEFBFC0B17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4104248" y="3590693"/>
            <a:ext cx="3939168" cy="2508211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endParaRPr lang="en-US" dirty="0"/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82884886-4728-6142-8698-38627184E6BC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8283498" y="3590693"/>
            <a:ext cx="3908502" cy="2508211"/>
          </a:xfrm>
        </p:spPr>
        <p:txBody>
          <a:bodyPr/>
          <a:lstStyle>
            <a:lvl1pPr marL="0" indent="0">
              <a:buNone/>
              <a:defRPr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endParaRPr lang="en-US" dirty="0"/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1C17D88D-1B35-A843-BA46-506AB4A8754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19253" y="1622502"/>
            <a:ext cx="10753493" cy="1143000"/>
          </a:xfrm>
        </p:spPr>
        <p:txBody>
          <a:bodyPr>
            <a:normAutofit/>
          </a:bodyPr>
          <a:lstStyle>
            <a:lvl1pPr marL="0" indent="0">
              <a:buNone/>
              <a:defRPr sz="2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Edit Master text styles</a:t>
            </a: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CAD91200-3642-8946-A772-E48D2472F96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alphaModFix amt="70000"/>
          </a:blip>
          <a:stretch>
            <a:fillRect/>
          </a:stretch>
        </p:blipFill>
        <p:spPr>
          <a:xfrm>
            <a:off x="10696074" y="508222"/>
            <a:ext cx="1119415" cy="2954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925617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3" pos="384" userDrawn="1">
          <p15:clr>
            <a:srgbClr val="FBAE40"/>
          </p15:clr>
        </p15:guide>
        <p15:guide id="4" pos="7296" userDrawn="1">
          <p15:clr>
            <a:srgbClr val="FBAE40"/>
          </p15:clr>
        </p15:guide>
        <p15:guide id="5" orient="horz" pos="504" userDrawn="1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CCA35D9A-EEF1-DD46-987E-6CF872511F4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108712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69C6585-2022-8F42-81FB-4B5D5B37C1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3796" y="365125"/>
            <a:ext cx="10515600" cy="527241"/>
          </a:xfrm>
        </p:spPr>
        <p:txBody>
          <a:bodyPr>
            <a:noAutofit/>
          </a:bodyPr>
          <a:lstStyle>
            <a:lvl1pPr>
              <a:defRPr sz="4000" b="0" i="0">
                <a:solidFill>
                  <a:schemeClr val="bg1"/>
                </a:solidFill>
                <a:latin typeface="+mn-lt"/>
                <a:cs typeface="Gill Sans SemiBold" panose="020B0502020104020203" pitchFamily="34" charset="-79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79D1336-869F-DC49-B576-75531AB2C3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1F6868-B405-CA44-B412-5D6C4F518A0C}" type="datetimeFigureOut">
              <a:rPr lang="en-US" smtClean="0"/>
              <a:t>12/30/25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6E37B73-0EC3-AE48-9FAC-E88B29D822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FD31F2E-9BEB-634E-BB98-A0F61BD250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C45A3A-841E-C04D-A6C3-2A644B41F8FE}" type="slidenum">
              <a:rPr lang="en-US" smtClean="0"/>
              <a:t>‹#›</a:t>
            </a:fld>
            <a:endParaRPr lang="en-US"/>
          </a:p>
        </p:txBody>
      </p:sp>
      <p:sp>
        <p:nvSpPr>
          <p:cNvPr id="6" name="Content Placeholder 3">
            <a:extLst>
              <a:ext uri="{FF2B5EF4-FFF2-40B4-BE49-F238E27FC236}">
                <a16:creationId xmlns:a16="http://schemas.microsoft.com/office/drawing/2014/main" id="{67963FD0-7962-5C46-90EE-E8851053986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0" y="1079653"/>
            <a:ext cx="6099717" cy="577834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endParaRPr lang="en-US" dirty="0"/>
          </a:p>
        </p:txBody>
      </p:sp>
      <p:sp>
        <p:nvSpPr>
          <p:cNvPr id="7" name="Content Placeholder 5">
            <a:extLst>
              <a:ext uri="{FF2B5EF4-FFF2-40B4-BE49-F238E27FC236}">
                <a16:creationId xmlns:a16="http://schemas.microsoft.com/office/drawing/2014/main" id="{D7FACD73-4E5D-A345-B9F2-A050263D9E0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718609" y="1757943"/>
            <a:ext cx="5183188" cy="3684588"/>
          </a:xfrm>
        </p:spPr>
        <p:txBody>
          <a:bodyPr>
            <a:normAutofit/>
          </a:bodyPr>
          <a:lstStyle>
            <a:lvl1pPr marL="0" indent="0">
              <a:buNone/>
              <a:defRPr sz="3200" b="1">
                <a:solidFill>
                  <a:srgbClr val="002060"/>
                </a:solidFill>
              </a:defRPr>
            </a:lvl1pPr>
            <a:lvl2pPr marL="800100" indent="-342900">
              <a:buClr>
                <a:srgbClr val="5D8B72"/>
              </a:buClr>
              <a:buFont typeface="Wingdings" pitchFamily="2" charset="2"/>
              <a:buChar char="§"/>
              <a:defRPr sz="3200"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82528B23-895C-5C4C-B680-35A98899E6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alphaModFix amt="70000"/>
          </a:blip>
          <a:stretch>
            <a:fillRect/>
          </a:stretch>
        </p:blipFill>
        <p:spPr>
          <a:xfrm>
            <a:off x="10696074" y="508222"/>
            <a:ext cx="1119415" cy="2954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893391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CCA35D9A-EEF1-DD46-987E-6CF872511F4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108712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69C6585-2022-8F42-81FB-4B5D5B37C1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3796" y="365125"/>
            <a:ext cx="10515600" cy="527241"/>
          </a:xfrm>
        </p:spPr>
        <p:txBody>
          <a:bodyPr>
            <a:noAutofit/>
          </a:bodyPr>
          <a:lstStyle>
            <a:lvl1pPr>
              <a:defRPr sz="4000" b="0" i="0">
                <a:solidFill>
                  <a:schemeClr val="bg1"/>
                </a:solidFill>
                <a:latin typeface="+mn-lt"/>
                <a:cs typeface="Gill Sans SemiBold" panose="020B0502020104020203" pitchFamily="34" charset="-79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79D1336-869F-DC49-B576-75531AB2C3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1F6868-B405-CA44-B412-5D6C4F518A0C}" type="datetimeFigureOut">
              <a:rPr lang="en-US" smtClean="0"/>
              <a:t>12/30/25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6E37B73-0EC3-AE48-9FAC-E88B29D822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FD31F2E-9BEB-634E-BB98-A0F61BD250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C45A3A-841E-C04D-A6C3-2A644B41F8FE}" type="slidenum">
              <a:rPr lang="en-US" smtClean="0"/>
              <a:t>‹#›</a:t>
            </a:fld>
            <a:endParaRPr lang="en-US"/>
          </a:p>
        </p:txBody>
      </p:sp>
      <p:sp>
        <p:nvSpPr>
          <p:cNvPr id="6" name="Content Placeholder 3">
            <a:extLst>
              <a:ext uri="{FF2B5EF4-FFF2-40B4-BE49-F238E27FC236}">
                <a16:creationId xmlns:a16="http://schemas.microsoft.com/office/drawing/2014/main" id="{67963FD0-7962-5C46-90EE-E8851053986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0" y="1079653"/>
            <a:ext cx="6875332" cy="577834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endParaRPr lang="en-US" dirty="0"/>
          </a:p>
        </p:txBody>
      </p:sp>
      <p:sp>
        <p:nvSpPr>
          <p:cNvPr id="7" name="Content Placeholder 5">
            <a:extLst>
              <a:ext uri="{FF2B5EF4-FFF2-40B4-BE49-F238E27FC236}">
                <a16:creationId xmlns:a16="http://schemas.microsoft.com/office/drawing/2014/main" id="{D7FACD73-4E5D-A345-B9F2-A050263D9E0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7235312" y="1638334"/>
            <a:ext cx="5183188" cy="3684588"/>
          </a:xfrm>
        </p:spPr>
        <p:txBody>
          <a:bodyPr>
            <a:normAutofit/>
          </a:bodyPr>
          <a:lstStyle>
            <a:lvl1pPr marL="0" indent="0">
              <a:buNone/>
              <a:defRPr sz="2800" b="1">
                <a:solidFill>
                  <a:schemeClr val="tx1"/>
                </a:solidFill>
              </a:defRPr>
            </a:lvl1pPr>
            <a:lvl2pPr marL="800100" indent="-342900">
              <a:buClr>
                <a:srgbClr val="5D8B72"/>
              </a:buClr>
              <a:buFont typeface="Wingdings" pitchFamily="2" charset="2"/>
              <a:buChar char="§"/>
              <a:defRPr sz="2800">
                <a:solidFill>
                  <a:schemeClr val="tx1"/>
                </a:solidFill>
              </a:defRPr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82528B23-895C-5C4C-B680-35A98899E6A0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alphaModFix amt="70000"/>
          </a:blip>
          <a:stretch>
            <a:fillRect/>
          </a:stretch>
        </p:blipFill>
        <p:spPr>
          <a:xfrm>
            <a:off x="10696074" y="508222"/>
            <a:ext cx="1119415" cy="295401"/>
          </a:xfrm>
          <a:prstGeom prst="rect">
            <a:avLst/>
          </a:prstGeom>
        </p:spPr>
      </p:pic>
      <p:grpSp>
        <p:nvGrpSpPr>
          <p:cNvPr id="11" name="Group 10">
            <a:extLst>
              <a:ext uri="{FF2B5EF4-FFF2-40B4-BE49-F238E27FC236}">
                <a16:creationId xmlns:a16="http://schemas.microsoft.com/office/drawing/2014/main" id="{85038276-3D99-374D-8C08-8B4EE9100505}"/>
              </a:ext>
            </a:extLst>
          </p:cNvPr>
          <p:cNvGrpSpPr/>
          <p:nvPr userDrawn="1"/>
        </p:nvGrpSpPr>
        <p:grpSpPr>
          <a:xfrm>
            <a:off x="6875332" y="4948518"/>
            <a:ext cx="5316667" cy="1909482"/>
            <a:chOff x="6875332" y="4948518"/>
            <a:chExt cx="5316667" cy="1909482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0C822032-AB25-264F-84DF-832153AB9E1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6875332" y="4948518"/>
              <a:ext cx="5316667" cy="1909482"/>
            </a:xfrm>
            <a:prstGeom prst="rect">
              <a:avLst/>
            </a:prstGeom>
            <a:solidFill>
              <a:srgbClr val="5D8B72"/>
            </a:solidFill>
            <a:ln w="158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rgbClr val="76B191"/>
                </a:solidFill>
              </a:endParaRPr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EC81D026-7836-5C4C-8D2C-5CE052626F44}"/>
                </a:ext>
              </a:extLst>
            </p:cNvPr>
            <p:cNvSpPr/>
            <p:nvPr/>
          </p:nvSpPr>
          <p:spPr>
            <a:xfrm>
              <a:off x="7235312" y="5517685"/>
              <a:ext cx="4865469" cy="43088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>
                <a:spcBef>
                  <a:spcPts val="600"/>
                </a:spcBef>
              </a:pPr>
              <a:endParaRPr lang="en-US" sz="2200" dirty="0">
                <a:solidFill>
                  <a:schemeClr val="bg1"/>
                </a:solidFill>
                <a:cs typeface="Arial" panose="020B0604020202020204" pitchFamily="34" charset="0"/>
              </a:endParaRPr>
            </a:p>
          </p:txBody>
        </p:sp>
      </p:grp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CA441141-9365-7740-8DBA-7BD811A087E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235312" y="5219700"/>
            <a:ext cx="4675188" cy="13970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784002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E85BF363-59FF-E54E-A0B5-E35D493FB5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108712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DB2D7EB-E182-4543-8CCE-37CF8E507C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3795" y="-22034"/>
            <a:ext cx="10515600" cy="1325563"/>
          </a:xfrm>
        </p:spPr>
        <p:txBody>
          <a:bodyPr>
            <a:normAutofit/>
          </a:bodyPr>
          <a:lstStyle>
            <a:lvl1pPr>
              <a:defRPr sz="4000" b="0" i="0">
                <a:solidFill>
                  <a:schemeClr val="bg1"/>
                </a:solidFill>
                <a:latin typeface="+mn-lt"/>
                <a:cs typeface="Gill Sans SemiBold" panose="020B0502020104020203" pitchFamily="34" charset="-79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604195B3-35E3-C543-9CBB-AD4A8EB724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alphaModFix amt="70000"/>
          </a:blip>
          <a:stretch>
            <a:fillRect/>
          </a:stretch>
        </p:blipFill>
        <p:spPr>
          <a:xfrm>
            <a:off x="10696074" y="508222"/>
            <a:ext cx="1119415" cy="295401"/>
          </a:xfrm>
          <a:prstGeom prst="rect">
            <a:avLst/>
          </a:prstGeom>
        </p:spPr>
      </p:pic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F97A970-8AEE-EF42-BDF8-26B8723537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1F6868-B405-CA44-B412-5D6C4F518A0C}" type="datetimeFigureOut">
              <a:rPr lang="en-US" smtClean="0"/>
              <a:t>12/30/25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F599B2C-3002-AC47-B9C2-6C74CD2E35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BD634A8-2332-E045-8B38-51EC9F819B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C45A3A-841E-C04D-A6C3-2A644B41F8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727495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43B434-E236-8945-8FEB-F9940E59CB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8B23053-7412-EC42-952B-F3D3ED93EFE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65A0226-E7CE-8143-8307-BD4050B44A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1F6868-B405-CA44-B412-5D6C4F518A0C}" type="datetimeFigureOut">
              <a:rPr lang="en-US" smtClean="0"/>
              <a:t>12/30/25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56007E-C621-3048-98EA-20DED6731E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196A9D9-5F67-8448-BB27-B648D7277F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C45A3A-841E-C04D-A6C3-2A644B41F8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666585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805F1A-A3CF-0047-A8BA-C75E807366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CE27262-4D83-C545-A69D-11927CC9E97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9444A2B-0445-E748-87AD-3F27274B898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DECA071-370B-3645-B900-7F3E13BC329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188D157-4D67-3B46-B8AF-958CE97FCA7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B920AF5-5E67-6F4F-AD26-29826B2D5C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1F6868-B405-CA44-B412-5D6C4F518A0C}" type="datetimeFigureOut">
              <a:rPr lang="en-US" smtClean="0"/>
              <a:t>12/30/25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5D25E99-A588-1F40-A418-48406BCBD9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EDE35B4-7239-0644-99A1-9F0EBD32E3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C45A3A-841E-C04D-A6C3-2A644B41F8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389848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DDFEFE-EB08-8142-A9C1-BF86AC8408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3BB52CA-0609-6A40-88C7-B5B3603A01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1F6868-B405-CA44-B412-5D6C4F518A0C}" type="datetimeFigureOut">
              <a:rPr lang="en-US" smtClean="0"/>
              <a:t>12/30/25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BCC122A-DB09-6441-B421-444556F96F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4993787-BB75-E043-A6AA-76B546CD8D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C45A3A-841E-C04D-A6C3-2A644B41F8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083895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C19C1BD-5EDB-DF4B-BE1D-1A782E5266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1F6868-B405-CA44-B412-5D6C4F518A0C}" type="datetimeFigureOut">
              <a:rPr lang="en-US" smtClean="0"/>
              <a:t>12/30/25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A4C54EB-E29C-1B44-B63D-C10BDE8127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EC0FCCB-373E-CB49-A0CB-050C6BE607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C45A3A-841E-C04D-A6C3-2A644B41F8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804414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0B7AF4-42D2-CD4B-85FC-75234682BD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148928-3BFE-F447-B402-65F50FA4D1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5619467-CD7D-8D41-83D5-3ED02468C97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E977D00-AADD-D446-8253-81CC26039D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1F6868-B405-CA44-B412-5D6C4F518A0C}" type="datetimeFigureOut">
              <a:rPr lang="en-US" smtClean="0"/>
              <a:t>12/30/25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2848F71-67DD-F941-8627-9F8F4BA828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49144A8-7257-C544-B581-FDF4613DE0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C45A3A-841E-C04D-A6C3-2A644B41F8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233263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916E0F-9A23-E04A-A83B-D457797AED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DB94851-F6F6-D54E-AADB-F130E90C4BA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9761F5F-9702-0644-9DC0-31047C5FF50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7D71729-7B3C-264F-AE58-4ADAFFBCC6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1F6868-B405-CA44-B412-5D6C4F518A0C}" type="datetimeFigureOut">
              <a:rPr lang="en-US" smtClean="0"/>
              <a:t>12/30/25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F25553D-02E8-0C4B-896F-22CFD8A989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74AC3B7-5EDC-C649-B68B-005FB7B6F2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C45A3A-841E-C04D-A6C3-2A644B41F8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697829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37591B-3EF3-EF49-837D-78F018ADF0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2198533-3EC2-1946-AEFC-AD2A0A051E2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E4BD49-E4DB-1640-8630-143D35F2C3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1F6868-B405-CA44-B412-5D6C4F518A0C}" type="datetimeFigureOut">
              <a:rPr lang="en-US" smtClean="0"/>
              <a:t>12/30/25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BD4ABBC-D87D-654B-9B16-CDB03F612A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93A31FC-0854-4445-B748-79D852B7B8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C45A3A-841E-C04D-A6C3-2A644B41F8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528087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F58B955-F8EA-C747-88B3-035F96FD74F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D8F46B6-D95E-994B-B612-1D27BC9A27F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E301DC1-7BEF-0142-9C09-FD10C8DCBB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1F6868-B405-CA44-B412-5D6C4F518A0C}" type="datetimeFigureOut">
              <a:rPr lang="en-US" smtClean="0"/>
              <a:t>12/30/25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C02FD19-0E10-2D44-A97A-B90BAE2AFD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CB5E1B7-5110-764D-BB3E-06138BCBDB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C45A3A-841E-C04D-A6C3-2A644B41F8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003452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6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36396336-99F0-6E53-8C82-06D59C64BEF3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/>
          <a:srcRect/>
          <a:stretch/>
        </p:blipFill>
        <p:spPr bwMode="auto">
          <a:xfrm>
            <a:off x="0" y="1034"/>
            <a:ext cx="12220546" cy="68626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0104F393-B462-6924-59F7-D2D8201CAA22}"/>
              </a:ext>
            </a:extLst>
          </p:cNvPr>
          <p:cNvSpPr txBox="1"/>
          <p:nvPr userDrawn="1"/>
        </p:nvSpPr>
        <p:spPr>
          <a:xfrm>
            <a:off x="0" y="3429000"/>
            <a:ext cx="12191997" cy="3435744"/>
          </a:xfrm>
          <a:prstGeom prst="rect">
            <a:avLst/>
          </a:prstGeom>
          <a:gradFill flip="none" rotWithShape="1">
            <a:gsLst>
              <a:gs pos="0">
                <a:sysClr val="windowText" lastClr="000000">
                  <a:alpha val="90000"/>
                </a:sysClr>
              </a:gs>
              <a:gs pos="60000">
                <a:srgbClr val="000000">
                  <a:alpha val="80000"/>
                </a:srgbClr>
              </a:gs>
              <a:gs pos="100000">
                <a:srgbClr val="7F7F7F">
                  <a:alpha val="0"/>
                </a:srgbClr>
              </a:gs>
            </a:gsLst>
            <a:lin ang="16200000" scaled="1"/>
            <a:tileRect/>
          </a:gradFill>
        </p:spPr>
        <p:txBody>
          <a:bodyPr wrap="none" lIns="182880">
            <a:norm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800" b="1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entury Gothic" panose="020B0502020202020204" pitchFamily="34" charset="0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CA35D9A-EEF1-DD46-987E-6CF872511F43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0" y="0"/>
            <a:ext cx="12192000" cy="1087129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82528B23-895C-5C4C-B680-35A98899E6A0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alphaModFix amt="70000"/>
          </a:blip>
          <a:stretch>
            <a:fillRect/>
          </a:stretch>
        </p:blipFill>
        <p:spPr>
          <a:xfrm>
            <a:off x="10696074" y="508222"/>
            <a:ext cx="1119415" cy="295401"/>
          </a:xfrm>
          <a:prstGeom prst="rect">
            <a:avLst/>
          </a:prstGeom>
        </p:spPr>
      </p:pic>
      <p:sp>
        <p:nvSpPr>
          <p:cNvPr id="9" name="Title 1">
            <a:extLst>
              <a:ext uri="{FF2B5EF4-FFF2-40B4-BE49-F238E27FC236}">
                <a16:creationId xmlns:a16="http://schemas.microsoft.com/office/drawing/2014/main" id="{E3FAAB9C-4676-8C48-8CEF-A4CF6BE5BC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3795" y="-10745"/>
            <a:ext cx="10515600" cy="1325563"/>
          </a:xfrm>
        </p:spPr>
        <p:txBody>
          <a:bodyPr>
            <a:normAutofit/>
          </a:bodyPr>
          <a:lstStyle>
            <a:lvl1pPr>
              <a:defRPr sz="4000" b="0" i="0">
                <a:solidFill>
                  <a:schemeClr val="bg1"/>
                </a:solidFill>
                <a:latin typeface="Century Gothic" panose="020B050202020202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ECE7940-E5E1-4BBA-81A8-45EEA0C4492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73088" y="1587500"/>
            <a:ext cx="10123487" cy="4692650"/>
          </a:xfrm>
        </p:spPr>
        <p:txBody>
          <a:bodyPr/>
          <a:lstStyle>
            <a:lvl1pPr>
              <a:lnSpc>
                <a:spcPct val="100000"/>
              </a:lnSpc>
              <a:spcAft>
                <a:spcPts val="600"/>
              </a:spcAft>
              <a:defRPr>
                <a:latin typeface="Century Gothic" panose="020B0502020202020204" pitchFamily="34" charset="0"/>
              </a:defRPr>
            </a:lvl1pPr>
            <a:lvl2pPr>
              <a:lnSpc>
                <a:spcPct val="100000"/>
              </a:lnSpc>
              <a:spcAft>
                <a:spcPts val="600"/>
              </a:spcAft>
              <a:defRPr>
                <a:latin typeface="Century Gothic" panose="020B0502020202020204" pitchFamily="34" charset="0"/>
              </a:defRPr>
            </a:lvl2pPr>
            <a:lvl3pPr>
              <a:lnSpc>
                <a:spcPct val="100000"/>
              </a:lnSpc>
              <a:spcAft>
                <a:spcPts val="600"/>
              </a:spcAft>
              <a:defRPr>
                <a:latin typeface="Century Gothic" panose="020B0502020202020204" pitchFamily="34" charset="0"/>
              </a:defRPr>
            </a:lvl3pPr>
            <a:lvl4pPr>
              <a:lnSpc>
                <a:spcPct val="100000"/>
              </a:lnSpc>
              <a:spcAft>
                <a:spcPts val="600"/>
              </a:spcAft>
              <a:defRPr>
                <a:latin typeface="Century Gothic" panose="020B0502020202020204" pitchFamily="34" charset="0"/>
              </a:defRPr>
            </a:lvl4pPr>
            <a:lvl5pPr>
              <a:lnSpc>
                <a:spcPct val="100000"/>
              </a:lnSpc>
              <a:spcAft>
                <a:spcPts val="600"/>
              </a:spcAft>
              <a:defRPr>
                <a:latin typeface="Century Gothic" panose="020B0502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Slide Number Placeholder 4">
            <a:extLst>
              <a:ext uri="{FF2B5EF4-FFF2-40B4-BE49-F238E27FC236}">
                <a16:creationId xmlns:a16="http://schemas.microsoft.com/office/drawing/2014/main" id="{9BACF14B-143C-4E55-B8F6-58AF302913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>
            <a:lvl1pPr>
              <a:defRPr>
                <a:latin typeface="Century Gothic" panose="020B0502020202020204" pitchFamily="34" charset="0"/>
              </a:defRPr>
            </a:lvl1pPr>
          </a:lstStyle>
          <a:p>
            <a:fld id="{61C45A3A-841E-C04D-A6C3-2A644B41F8FE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485492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04">
          <p15:clr>
            <a:srgbClr val="FBAE40"/>
          </p15:clr>
        </p15:guide>
        <p15:guide id="2" pos="432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E7B02D6-E535-0945-9835-AF44B4A75C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CA2FC90-D1DA-CB42-87D3-934382067FD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46D56EC-5AF3-B541-8BF2-8E9DEBBC277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F1F6868-B405-CA44-B412-5D6C4F518A0C}" type="datetimeFigureOut">
              <a:rPr lang="en-US" smtClean="0"/>
              <a:t>12/30/25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EDBA3C9-62A7-B646-A8AA-A05815B4FD0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3E72593-F01B-3C40-B17B-E5E7A4EC53B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1C45A3A-841E-C04D-A6C3-2A644B41F8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902219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1" r:id="rId2"/>
    <p:sldLayoutId id="2147483665" r:id="rId3"/>
    <p:sldLayoutId id="2147483652" r:id="rId4"/>
    <p:sldLayoutId id="2147483650" r:id="rId5"/>
    <p:sldLayoutId id="2147483662" r:id="rId6"/>
    <p:sldLayoutId id="2147483664" r:id="rId7"/>
    <p:sldLayoutId id="2147483663" r:id="rId8"/>
    <p:sldLayoutId id="2147483651" r:id="rId9"/>
    <p:sldLayoutId id="2147483653" r:id="rId10"/>
    <p:sldLayoutId id="2147483654" r:id="rId11"/>
    <p:sldLayoutId id="2147483655" r:id="rId12"/>
    <p:sldLayoutId id="2147483656" r:id="rId13"/>
    <p:sldLayoutId id="2147483657" r:id="rId14"/>
    <p:sldLayoutId id="2147483658" r:id="rId15"/>
    <p:sldLayoutId id="2147483659" r:id="rId16"/>
    <p:sldLayoutId id="2147483667" r:id="rId1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2B1FA6-92D4-B945-9015-1C671C4A6EF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10365" y="1531418"/>
            <a:ext cx="10463809" cy="1612839"/>
          </a:xfrm>
        </p:spPr>
        <p:txBody>
          <a:bodyPr>
            <a:normAutofit fontScale="90000"/>
          </a:bodyPr>
          <a:lstStyle/>
          <a:p>
            <a:r>
              <a:rPr lang="en-US" dirty="0"/>
              <a:t>Interpolation for the alignment of Clock Frequency Data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D46EDF7-ACB9-B941-9E7B-63A2190EC7E4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8042030" y="6235962"/>
            <a:ext cx="3669323" cy="521677"/>
          </a:xfrm>
        </p:spPr>
        <p:txBody>
          <a:bodyPr/>
          <a:lstStyle/>
          <a:p>
            <a:r>
              <a:rPr lang="en-US" dirty="0"/>
              <a:t>January, 16, 2026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6B3F8FCE-BCEE-F197-309E-D239B7AE06CB}"/>
              </a:ext>
            </a:extLst>
          </p:cNvPr>
          <p:cNvSpPr txBox="1">
            <a:spLocks/>
          </p:cNvSpPr>
          <p:nvPr/>
        </p:nvSpPr>
        <p:spPr>
          <a:xfrm>
            <a:off x="510365" y="3144257"/>
            <a:ext cx="10463809" cy="569487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b="1" i="0" kern="1200">
                <a:solidFill>
                  <a:schemeClr val="bg1"/>
                </a:solidFill>
                <a:latin typeface="Calibri" panose="020F0502020204030204" pitchFamily="34" charset="0"/>
                <a:ea typeface="+mj-ea"/>
                <a:cs typeface="Calibri" panose="020F0502020204030204" pitchFamily="34" charset="0"/>
              </a:defRPr>
            </a:lvl1pPr>
          </a:lstStyle>
          <a:p>
            <a:r>
              <a:rPr lang="en-US" sz="2400" b="0" dirty="0"/>
              <a:t>Suzanne Thornton, NIST PREP Associate, SED</a:t>
            </a:r>
          </a:p>
        </p:txBody>
      </p:sp>
    </p:spTree>
    <p:extLst>
      <p:ext uri="{BB962C8B-B14F-4D97-AF65-F5344CB8AC3E}">
        <p14:creationId xmlns:p14="http://schemas.microsoft.com/office/powerpoint/2010/main" val="243040470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1286DC33-DAC7-BE4F-87D7-D24660A13232}"/>
              </a:ext>
            </a:extLst>
          </p:cNvPr>
          <p:cNvSpPr txBox="1"/>
          <p:nvPr/>
        </p:nvSpPr>
        <p:spPr>
          <a:xfrm>
            <a:off x="8236146" y="6075396"/>
            <a:ext cx="321449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chemeClr val="bg1">
                    <a:alpha val="70000"/>
                  </a:schemeClr>
                </a:solidFill>
                <a:cs typeface="Arial" panose="020B0604020202020204" pitchFamily="34" charset="0"/>
              </a:rPr>
              <a:t>©Nicholas McIntosh Photography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B9C186E-3B1A-314B-A00F-06DD1941EFE5}"/>
              </a:ext>
            </a:extLst>
          </p:cNvPr>
          <p:cNvSpPr txBox="1"/>
          <p:nvPr/>
        </p:nvSpPr>
        <p:spPr>
          <a:xfrm>
            <a:off x="-9167" y="6064881"/>
            <a:ext cx="2164977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chemeClr val="bg1">
                    <a:alpha val="70000"/>
                  </a:schemeClr>
                </a:solidFill>
                <a:cs typeface="Arial" panose="020B0604020202020204" pitchFamily="34" charset="0"/>
              </a:rPr>
              <a:t>©Robert Rathe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EAAB5400-5048-5549-B43F-D1687B43130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72990" y="1190417"/>
            <a:ext cx="5264987" cy="1471962"/>
          </a:xfrm>
        </p:spPr>
        <p:txBody>
          <a:bodyPr>
            <a:normAutofit lnSpcReduction="10000"/>
          </a:bodyPr>
          <a:lstStyle/>
          <a:p>
            <a:r>
              <a:rPr lang="en-US" dirty="0"/>
              <a:t>Missing Al comb nu: 233 </a:t>
            </a:r>
          </a:p>
          <a:p>
            <a:r>
              <a:rPr lang="en-US" dirty="0"/>
              <a:t>Missing Sr comb nu: 203 </a:t>
            </a:r>
          </a:p>
          <a:p>
            <a:r>
              <a:rPr lang="en-US" dirty="0"/>
              <a:t>Missing Yb comb nu: 417</a:t>
            </a:r>
            <a:endParaRPr lang="en-US" dirty="0">
              <a:cs typeface="Arial" panose="020B0604020202020204" pitchFamily="34" charset="0"/>
            </a:endParaRPr>
          </a:p>
          <a:p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C2DEAE3-7FD4-1847-BBC9-CED99B10BE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4040" y="0"/>
            <a:ext cx="10515600" cy="1325563"/>
          </a:xfrm>
        </p:spPr>
        <p:txBody>
          <a:bodyPr>
            <a:normAutofit/>
          </a:bodyPr>
          <a:lstStyle/>
          <a:p>
            <a:r>
              <a:rPr lang="en-US" dirty="0"/>
              <a:t>Missingness in comb data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E696997-4669-C783-C656-C29636E65B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88440" y="2527233"/>
            <a:ext cx="9761146" cy="41104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4015188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90CB37-FE16-F09F-A4E0-D43E90198D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91CD9778-4806-C801-384A-968F11B40208}"/>
              </a:ext>
            </a:extLst>
          </p:cNvPr>
          <p:cNvSpPr txBox="1"/>
          <p:nvPr/>
        </p:nvSpPr>
        <p:spPr>
          <a:xfrm>
            <a:off x="8236146" y="6075396"/>
            <a:ext cx="321449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chemeClr val="bg1">
                    <a:alpha val="70000"/>
                  </a:schemeClr>
                </a:solidFill>
                <a:cs typeface="Arial" panose="020B0604020202020204" pitchFamily="34" charset="0"/>
              </a:rPr>
              <a:t>©Nicholas McIntosh Photography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9E70B45-EECF-D681-87FF-1EE9704BB33B}"/>
              </a:ext>
            </a:extLst>
          </p:cNvPr>
          <p:cNvSpPr txBox="1"/>
          <p:nvPr/>
        </p:nvSpPr>
        <p:spPr>
          <a:xfrm>
            <a:off x="-9167" y="6064881"/>
            <a:ext cx="2164977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chemeClr val="bg1">
                    <a:alpha val="70000"/>
                  </a:schemeClr>
                </a:solidFill>
                <a:cs typeface="Arial" panose="020B0604020202020204" pitchFamily="34" charset="0"/>
              </a:rPr>
              <a:t>©Robert Rathe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8573AB8-B651-37B4-CE08-85099A0179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4040" y="0"/>
            <a:ext cx="10515600" cy="1325563"/>
          </a:xfrm>
        </p:spPr>
        <p:txBody>
          <a:bodyPr>
            <a:normAutofit/>
          </a:bodyPr>
          <a:lstStyle/>
          <a:p>
            <a:r>
              <a:rPr lang="en-US" dirty="0"/>
              <a:t>Visualizing all shift data 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33A4EEB-4992-267E-DFBC-223344B9E0F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75781" y="1687707"/>
            <a:ext cx="5881370" cy="43876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175234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EE26C8-8DEB-8081-D705-48397C8860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8B8F9B9E-03F4-60B2-42B9-91C52236C7D4}"/>
              </a:ext>
            </a:extLst>
          </p:cNvPr>
          <p:cNvSpPr txBox="1"/>
          <p:nvPr/>
        </p:nvSpPr>
        <p:spPr>
          <a:xfrm>
            <a:off x="8236146" y="6075396"/>
            <a:ext cx="321449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chemeClr val="bg1">
                    <a:alpha val="70000"/>
                  </a:schemeClr>
                </a:solidFill>
                <a:cs typeface="Arial" panose="020B0604020202020204" pitchFamily="34" charset="0"/>
              </a:rPr>
              <a:t>©Nicholas McIntosh Photography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6A51A8F-9E2B-68AB-D1F0-00EA7D22AC93}"/>
              </a:ext>
            </a:extLst>
          </p:cNvPr>
          <p:cNvSpPr txBox="1"/>
          <p:nvPr/>
        </p:nvSpPr>
        <p:spPr>
          <a:xfrm>
            <a:off x="-9167" y="6064881"/>
            <a:ext cx="2164977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chemeClr val="bg1">
                    <a:alpha val="70000"/>
                  </a:schemeClr>
                </a:solidFill>
                <a:cs typeface="Arial" panose="020B0604020202020204" pitchFamily="34" charset="0"/>
              </a:rPr>
              <a:t>©Robert Rathe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8A8D8BBA-EAC3-0192-9B11-DB13C6D6A4C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97143" y="1458276"/>
            <a:ext cx="10753493" cy="3459164"/>
          </a:xfrm>
        </p:spPr>
        <p:txBody>
          <a:bodyPr>
            <a:normAutofit/>
          </a:bodyPr>
          <a:lstStyle/>
          <a:p>
            <a:r>
              <a:rPr lang="en-US" dirty="0"/>
              <a:t>The following summaries represent how many shift data points were deemed “not good” based on the IS_GOOD indicator for each clock.</a:t>
            </a:r>
          </a:p>
          <a:p>
            <a:endParaRPr lang="en-US" dirty="0"/>
          </a:p>
          <a:p>
            <a:r>
              <a:rPr lang="en-US" dirty="0"/>
              <a:t>NA Al shift values: 81164 </a:t>
            </a:r>
          </a:p>
          <a:p>
            <a:r>
              <a:rPr lang="en-US" dirty="0"/>
              <a:t>NA Sr shift values: 0 </a:t>
            </a:r>
          </a:p>
          <a:p>
            <a:r>
              <a:rPr lang="en-US" dirty="0"/>
              <a:t>NA Yb shift values: 515</a:t>
            </a:r>
            <a:endParaRPr lang="en-US" dirty="0">
              <a:cs typeface="Arial" panose="020B0604020202020204" pitchFamily="34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461037F-E7DD-CC6B-0FD3-C2ABBC3256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4040" y="0"/>
            <a:ext cx="10515600" cy="1325563"/>
          </a:xfrm>
        </p:spPr>
        <p:txBody>
          <a:bodyPr>
            <a:normAutofit/>
          </a:bodyPr>
          <a:lstStyle/>
          <a:p>
            <a:r>
              <a:rPr lang="en-US" dirty="0"/>
              <a:t>Summary of “not good” shift data </a:t>
            </a:r>
          </a:p>
        </p:txBody>
      </p:sp>
    </p:spTree>
    <p:extLst>
      <p:ext uri="{BB962C8B-B14F-4D97-AF65-F5344CB8AC3E}">
        <p14:creationId xmlns:p14="http://schemas.microsoft.com/office/powerpoint/2010/main" val="54330557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D207A0-704B-1379-8013-99C3A8A9FD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AD2BD064-0B91-843F-843B-13B6F13EF521}"/>
              </a:ext>
            </a:extLst>
          </p:cNvPr>
          <p:cNvSpPr txBox="1"/>
          <p:nvPr/>
        </p:nvSpPr>
        <p:spPr>
          <a:xfrm>
            <a:off x="8236146" y="6075396"/>
            <a:ext cx="321449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chemeClr val="bg1">
                    <a:alpha val="70000"/>
                  </a:schemeClr>
                </a:solidFill>
                <a:cs typeface="Arial" panose="020B0604020202020204" pitchFamily="34" charset="0"/>
              </a:rPr>
              <a:t>©Nicholas McIntosh Photography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006A413-1D26-4A46-2952-29AEB338F888}"/>
              </a:ext>
            </a:extLst>
          </p:cNvPr>
          <p:cNvSpPr txBox="1"/>
          <p:nvPr/>
        </p:nvSpPr>
        <p:spPr>
          <a:xfrm>
            <a:off x="-9167" y="6064881"/>
            <a:ext cx="2164977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chemeClr val="bg1">
                    <a:alpha val="70000"/>
                  </a:schemeClr>
                </a:solidFill>
                <a:cs typeface="Arial" panose="020B0604020202020204" pitchFamily="34" charset="0"/>
              </a:rPr>
              <a:t>©Robert Rathe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F17570C9-EDED-E900-5662-1637EA09C5D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223521" y="1458276"/>
            <a:ext cx="11826240" cy="4404044"/>
          </a:xfrm>
        </p:spPr>
        <p:txBody>
          <a:bodyPr>
            <a:normAutofit/>
          </a:bodyPr>
          <a:lstStyle/>
          <a:p>
            <a:r>
              <a:rPr lang="en-US" dirty="0"/>
              <a:t>Comb start and end MJD: [ 60752.742818 , 60753.031848 ] </a:t>
            </a:r>
          </a:p>
          <a:p>
            <a:r>
              <a:rPr lang="en-US" dirty="0"/>
              <a:t>Al good shift start and end MJD: [ 60752.9509491 , 60753.0115278 ] </a:t>
            </a:r>
          </a:p>
          <a:p>
            <a:r>
              <a:rPr lang="en-US" dirty="0"/>
              <a:t>Sr good shift start and end MJD: [ 60752.78983432031 , 60753.01555496421 ] </a:t>
            </a:r>
          </a:p>
          <a:p>
            <a:r>
              <a:rPr lang="en-US" dirty="0"/>
              <a:t>Yb good shift start and end MJD: [ 60752.87540139 , 60753.01171893 ]</a:t>
            </a:r>
          </a:p>
          <a:p>
            <a:endParaRPr lang="en-US" dirty="0">
              <a:cs typeface="Arial" panose="020B0604020202020204" pitchFamily="34" charset="0"/>
            </a:endParaRPr>
          </a:p>
          <a:p>
            <a:r>
              <a:rPr lang="en-US" dirty="0"/>
              <a:t>Last start time: 60752.9509491 </a:t>
            </a:r>
          </a:p>
          <a:p>
            <a:r>
              <a:rPr lang="en-US" dirty="0"/>
              <a:t>First end time: 60753.0115278</a:t>
            </a:r>
            <a:endParaRPr lang="en-US" dirty="0">
              <a:cs typeface="Arial" panose="020B0604020202020204" pitchFamily="34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3B47006-6529-CB3A-DF75-8B23D95364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60" y="-69848"/>
            <a:ext cx="10515600" cy="1325563"/>
          </a:xfrm>
        </p:spPr>
        <p:txBody>
          <a:bodyPr>
            <a:normAutofit/>
          </a:bodyPr>
          <a:lstStyle/>
          <a:p>
            <a:r>
              <a:rPr lang="en-US" sz="3800" dirty="0"/>
              <a:t>Determining an overlapping window of observations</a:t>
            </a:r>
          </a:p>
        </p:txBody>
      </p:sp>
    </p:spTree>
    <p:extLst>
      <p:ext uri="{BB962C8B-B14F-4D97-AF65-F5344CB8AC3E}">
        <p14:creationId xmlns:p14="http://schemas.microsoft.com/office/powerpoint/2010/main" val="183255224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038E6A-3CBF-0AE6-0648-4B4EE97459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0AAE102D-9A56-B1A8-B8FF-2A9C6C0B937B}"/>
              </a:ext>
            </a:extLst>
          </p:cNvPr>
          <p:cNvSpPr txBox="1"/>
          <p:nvPr/>
        </p:nvSpPr>
        <p:spPr>
          <a:xfrm>
            <a:off x="8236146" y="6075396"/>
            <a:ext cx="321449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chemeClr val="bg1">
                    <a:alpha val="70000"/>
                  </a:schemeClr>
                </a:solidFill>
                <a:cs typeface="Arial" panose="020B0604020202020204" pitchFamily="34" charset="0"/>
              </a:rPr>
              <a:t>©Nicholas McIntosh Photography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5DAA658-BE5E-D13B-B69C-7B0A841DA9FA}"/>
              </a:ext>
            </a:extLst>
          </p:cNvPr>
          <p:cNvSpPr txBox="1"/>
          <p:nvPr/>
        </p:nvSpPr>
        <p:spPr>
          <a:xfrm>
            <a:off x="-9167" y="6064881"/>
            <a:ext cx="2164977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chemeClr val="bg1">
                    <a:alpha val="70000"/>
                  </a:schemeClr>
                </a:solidFill>
                <a:cs typeface="Arial" panose="020B0604020202020204" pitchFamily="34" charset="0"/>
              </a:rPr>
              <a:t>©Robert Rathe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BD48D9F-7CA4-DC2C-A8B5-59F4FBB3F2B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32080" y="1458276"/>
            <a:ext cx="11765279" cy="4454844"/>
          </a:xfrm>
        </p:spPr>
        <p:txBody>
          <a:bodyPr>
            <a:normAutofit/>
          </a:bodyPr>
          <a:lstStyle/>
          <a:p>
            <a:r>
              <a:rPr lang="en-US" dirty="0"/>
              <a:t>In this example, the results of filtering only the data that lie between the last start time and first end time are as follows. </a:t>
            </a:r>
          </a:p>
          <a:p>
            <a:endParaRPr lang="en-US" dirty="0"/>
          </a:p>
          <a:p>
            <a:r>
              <a:rPr lang="en-US" dirty="0" err="1"/>
              <a:t>nuAl</a:t>
            </a:r>
            <a:r>
              <a:rPr lang="en-US" dirty="0"/>
              <a:t>, </a:t>
            </a:r>
            <a:r>
              <a:rPr lang="en-US" dirty="0" err="1"/>
              <a:t>nuSr</a:t>
            </a:r>
            <a:r>
              <a:rPr lang="en-US" dirty="0"/>
              <a:t>, and </a:t>
            </a:r>
            <a:r>
              <a:rPr lang="en-US" dirty="0" err="1"/>
              <a:t>nuYb</a:t>
            </a:r>
            <a:r>
              <a:rPr lang="en-US" dirty="0"/>
              <a:t> start and end MJD: [ 60752.950939 , 60753.011522 ] </a:t>
            </a:r>
          </a:p>
          <a:p>
            <a:r>
              <a:rPr lang="en-US" dirty="0"/>
              <a:t>Al good shift start and end MJD: [ 60752.9509491 , 60753.0115162 ] </a:t>
            </a:r>
          </a:p>
          <a:p>
            <a:r>
              <a:rPr lang="en-US" dirty="0"/>
              <a:t>Sr good shift start and end MJD: [ 60752.95094887931 , 60753.01144822278 ] </a:t>
            </a:r>
          </a:p>
          <a:p>
            <a:r>
              <a:rPr lang="en-US" dirty="0"/>
              <a:t>Yb good shift start and end MJD: [ 60752.94844731 , 60753.01152291 ]</a:t>
            </a:r>
            <a:endParaRPr lang="en-US" dirty="0">
              <a:cs typeface="Arial" panose="020B0604020202020204" pitchFamily="34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A47729E-F2B6-1448-485F-1A16CF065C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4040" y="0"/>
            <a:ext cx="10515600" cy="1325563"/>
          </a:xfrm>
        </p:spPr>
        <p:txBody>
          <a:bodyPr>
            <a:normAutofit/>
          </a:bodyPr>
          <a:lstStyle/>
          <a:p>
            <a:r>
              <a:rPr lang="en-US" dirty="0"/>
              <a:t>Overlapping window of observations</a:t>
            </a:r>
          </a:p>
        </p:txBody>
      </p:sp>
    </p:spTree>
    <p:extLst>
      <p:ext uri="{BB962C8B-B14F-4D97-AF65-F5344CB8AC3E}">
        <p14:creationId xmlns:p14="http://schemas.microsoft.com/office/powerpoint/2010/main" val="62066170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B28F03-3519-98A5-62F0-EF81CDA179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1661EAF0-0C29-6105-293C-8CDA79FBA62D}"/>
              </a:ext>
            </a:extLst>
          </p:cNvPr>
          <p:cNvSpPr txBox="1"/>
          <p:nvPr/>
        </p:nvSpPr>
        <p:spPr>
          <a:xfrm>
            <a:off x="8236146" y="6075396"/>
            <a:ext cx="321449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chemeClr val="bg1">
                    <a:alpha val="70000"/>
                  </a:schemeClr>
                </a:solidFill>
                <a:cs typeface="Arial" panose="020B0604020202020204" pitchFamily="34" charset="0"/>
              </a:rPr>
              <a:t>©Nicholas McIntosh Photography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D623927-F8FC-60AD-3398-BC1E83805FB6}"/>
              </a:ext>
            </a:extLst>
          </p:cNvPr>
          <p:cNvSpPr txBox="1"/>
          <p:nvPr/>
        </p:nvSpPr>
        <p:spPr>
          <a:xfrm>
            <a:off x="-9167" y="6064881"/>
            <a:ext cx="2164977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chemeClr val="bg1">
                    <a:alpha val="70000"/>
                  </a:schemeClr>
                </a:solidFill>
                <a:cs typeface="Arial" panose="020B0604020202020204" pitchFamily="34" charset="0"/>
              </a:rPr>
              <a:t>©Robert Rathe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4DC08AEB-0FAD-3DAA-0884-A25C7520818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97143" y="1458276"/>
            <a:ext cx="10753493" cy="3459164"/>
          </a:xfrm>
        </p:spPr>
        <p:txBody>
          <a:bodyPr>
            <a:normAutofit/>
          </a:bodyPr>
          <a:lstStyle/>
          <a:p>
            <a:r>
              <a:rPr lang="en-US" dirty="0"/>
              <a:t>Can see the need for interpolation in order to derive a ratio time series</a:t>
            </a:r>
            <a:endParaRPr lang="en-US" dirty="0">
              <a:cs typeface="Arial" panose="020B0604020202020204" pitchFamily="34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D75595B-6BA8-BE87-6B99-9DAB2338FD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4040" y="0"/>
            <a:ext cx="10515600" cy="1325563"/>
          </a:xfrm>
        </p:spPr>
        <p:txBody>
          <a:bodyPr>
            <a:normAutofit/>
          </a:bodyPr>
          <a:lstStyle/>
          <a:p>
            <a:r>
              <a:rPr lang="en-US" dirty="0"/>
              <a:t>Comparing MDJ for comb and shift data</a:t>
            </a:r>
          </a:p>
        </p:txBody>
      </p:sp>
    </p:spTree>
    <p:extLst>
      <p:ext uri="{BB962C8B-B14F-4D97-AF65-F5344CB8AC3E}">
        <p14:creationId xmlns:p14="http://schemas.microsoft.com/office/powerpoint/2010/main" val="127659821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CD8FDA-FC86-098E-8AA6-72789B98D8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3888EF37-35AA-38E3-6F05-0EEFF48A7BF2}"/>
              </a:ext>
            </a:extLst>
          </p:cNvPr>
          <p:cNvSpPr txBox="1"/>
          <p:nvPr/>
        </p:nvSpPr>
        <p:spPr>
          <a:xfrm>
            <a:off x="8236146" y="6075396"/>
            <a:ext cx="321449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chemeClr val="bg1">
                    <a:alpha val="70000"/>
                  </a:schemeClr>
                </a:solidFill>
                <a:cs typeface="Arial" panose="020B0604020202020204" pitchFamily="34" charset="0"/>
              </a:rPr>
              <a:t>©Nicholas McIntosh Photography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D6B0D4B-5757-D59A-30F2-CEB693F6F15F}"/>
              </a:ext>
            </a:extLst>
          </p:cNvPr>
          <p:cNvSpPr txBox="1"/>
          <p:nvPr/>
        </p:nvSpPr>
        <p:spPr>
          <a:xfrm>
            <a:off x="-9167" y="6064881"/>
            <a:ext cx="2164977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chemeClr val="bg1">
                    <a:alpha val="70000"/>
                  </a:schemeClr>
                </a:solidFill>
                <a:cs typeface="Arial" panose="020B0604020202020204" pitchFamily="34" charset="0"/>
              </a:rPr>
              <a:t>©Robert Rathe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AB164033-6ED8-171F-DA06-1338A512F99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97143" y="1458276"/>
            <a:ext cx="10753493" cy="3459164"/>
          </a:xfrm>
        </p:spPr>
        <p:txBody>
          <a:bodyPr>
            <a:normAutofit/>
          </a:bodyPr>
          <a:lstStyle/>
          <a:p>
            <a:r>
              <a:rPr lang="en-US" dirty="0"/>
              <a:t>TEXT</a:t>
            </a:r>
            <a:endParaRPr lang="en-US" dirty="0">
              <a:cs typeface="Arial" panose="020B0604020202020204" pitchFamily="34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44FB4EB-7EA8-7A7E-41AE-9B2A4F29CF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4040" y="0"/>
            <a:ext cx="10515600" cy="1325563"/>
          </a:xfrm>
        </p:spPr>
        <p:txBody>
          <a:bodyPr>
            <a:normAutofit/>
          </a:bodyPr>
          <a:lstStyle/>
          <a:p>
            <a:r>
              <a:rPr lang="en-US" dirty="0"/>
              <a:t>Time-based interpolation</a:t>
            </a:r>
          </a:p>
        </p:txBody>
      </p:sp>
    </p:spTree>
    <p:extLst>
      <p:ext uri="{BB962C8B-B14F-4D97-AF65-F5344CB8AC3E}">
        <p14:creationId xmlns:p14="http://schemas.microsoft.com/office/powerpoint/2010/main" val="171052919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6597D5-60F6-3231-A6F1-912A8E12C4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B143FA5A-B518-D90B-6E77-0D54EDAF621C}"/>
              </a:ext>
            </a:extLst>
          </p:cNvPr>
          <p:cNvSpPr txBox="1"/>
          <p:nvPr/>
        </p:nvSpPr>
        <p:spPr>
          <a:xfrm>
            <a:off x="8236146" y="6075396"/>
            <a:ext cx="321449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chemeClr val="bg1">
                    <a:alpha val="70000"/>
                  </a:schemeClr>
                </a:solidFill>
                <a:cs typeface="Arial" panose="020B0604020202020204" pitchFamily="34" charset="0"/>
              </a:rPr>
              <a:t>©Nicholas McIntosh Photography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CF55600-4E9F-BD4C-7003-9516FE6C431D}"/>
              </a:ext>
            </a:extLst>
          </p:cNvPr>
          <p:cNvSpPr txBox="1"/>
          <p:nvPr/>
        </p:nvSpPr>
        <p:spPr>
          <a:xfrm>
            <a:off x="-9167" y="6064881"/>
            <a:ext cx="2164977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chemeClr val="bg1">
                    <a:alpha val="70000"/>
                  </a:schemeClr>
                </a:solidFill>
                <a:cs typeface="Arial" panose="020B0604020202020204" pitchFamily="34" charset="0"/>
              </a:rPr>
              <a:t>©Robert Rathe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5BB8E5CD-1112-FD6F-BACB-8771AED1215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97143" y="1458276"/>
            <a:ext cx="10753493" cy="3459164"/>
          </a:xfrm>
        </p:spPr>
        <p:txBody>
          <a:bodyPr>
            <a:normAutofit/>
          </a:bodyPr>
          <a:lstStyle/>
          <a:p>
            <a:r>
              <a:rPr lang="en-US" dirty="0"/>
              <a:t>TEXT</a:t>
            </a:r>
            <a:endParaRPr lang="en-US" dirty="0">
              <a:cs typeface="Arial" panose="020B0604020202020204" pitchFamily="34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AA3D512-5677-C0AB-5244-AE92F3354C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4040" y="0"/>
            <a:ext cx="10515600" cy="1325563"/>
          </a:xfrm>
        </p:spPr>
        <p:txBody>
          <a:bodyPr>
            <a:normAutofit/>
          </a:bodyPr>
          <a:lstStyle/>
          <a:p>
            <a:r>
              <a:rPr lang="en-US" dirty="0"/>
              <a:t>Interpolation via Kalman filter smoothing</a:t>
            </a:r>
          </a:p>
        </p:txBody>
      </p:sp>
    </p:spTree>
    <p:extLst>
      <p:ext uri="{BB962C8B-B14F-4D97-AF65-F5344CB8AC3E}">
        <p14:creationId xmlns:p14="http://schemas.microsoft.com/office/powerpoint/2010/main" val="379794479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63A9F6-8EEC-E833-78E1-344F35EC49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82A02C70-45D9-03ED-70E3-538A9E156160}"/>
              </a:ext>
            </a:extLst>
          </p:cNvPr>
          <p:cNvSpPr txBox="1"/>
          <p:nvPr/>
        </p:nvSpPr>
        <p:spPr>
          <a:xfrm>
            <a:off x="8236146" y="6075396"/>
            <a:ext cx="321449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chemeClr val="bg1">
                    <a:alpha val="70000"/>
                  </a:schemeClr>
                </a:solidFill>
                <a:cs typeface="Arial" panose="020B0604020202020204" pitchFamily="34" charset="0"/>
              </a:rPr>
              <a:t>©Nicholas McIntosh Photography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7B61572-57DD-78A9-4A94-7A0367C2681F}"/>
              </a:ext>
            </a:extLst>
          </p:cNvPr>
          <p:cNvSpPr txBox="1"/>
          <p:nvPr/>
        </p:nvSpPr>
        <p:spPr>
          <a:xfrm>
            <a:off x="-9167" y="6064881"/>
            <a:ext cx="2164977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chemeClr val="bg1">
                    <a:alpha val="70000"/>
                  </a:schemeClr>
                </a:solidFill>
                <a:cs typeface="Arial" panose="020B0604020202020204" pitchFamily="34" charset="0"/>
              </a:rPr>
              <a:t>©Robert Rathe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C12775AC-CEB4-CDEF-46FB-C31D8339AC7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97143" y="1458276"/>
            <a:ext cx="10753493" cy="3459164"/>
          </a:xfrm>
        </p:spPr>
        <p:txBody>
          <a:bodyPr>
            <a:normAutofit/>
          </a:bodyPr>
          <a:lstStyle/>
          <a:p>
            <a:r>
              <a:rPr lang="en-US" dirty="0"/>
              <a:t>TEXT</a:t>
            </a:r>
            <a:endParaRPr lang="en-US" dirty="0">
              <a:cs typeface="Arial" panose="020B0604020202020204" pitchFamily="34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4F3CA10-48AD-2CE0-2A13-A16BF0A675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4040" y="0"/>
            <a:ext cx="10515600" cy="1325563"/>
          </a:xfrm>
        </p:spPr>
        <p:txBody>
          <a:bodyPr>
            <a:normAutofit/>
          </a:bodyPr>
          <a:lstStyle/>
          <a:p>
            <a:r>
              <a:rPr lang="en-US" dirty="0"/>
              <a:t>Other interpolation techniques</a:t>
            </a:r>
          </a:p>
        </p:txBody>
      </p:sp>
    </p:spTree>
    <p:extLst>
      <p:ext uri="{BB962C8B-B14F-4D97-AF65-F5344CB8AC3E}">
        <p14:creationId xmlns:p14="http://schemas.microsoft.com/office/powerpoint/2010/main" val="400241438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339C2B-66E4-04E5-C329-49F7B1C79C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1D838081-213B-C602-0E7B-27BD6C21C3F7}"/>
              </a:ext>
            </a:extLst>
          </p:cNvPr>
          <p:cNvSpPr txBox="1"/>
          <p:nvPr/>
        </p:nvSpPr>
        <p:spPr>
          <a:xfrm>
            <a:off x="8236146" y="6075396"/>
            <a:ext cx="321449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chemeClr val="bg1">
                    <a:alpha val="70000"/>
                  </a:schemeClr>
                </a:solidFill>
                <a:cs typeface="Arial" panose="020B0604020202020204" pitchFamily="34" charset="0"/>
              </a:rPr>
              <a:t>©Nicholas McIntosh Photography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7E4F2C0-A89B-2EFC-D4A3-47098A6418E3}"/>
              </a:ext>
            </a:extLst>
          </p:cNvPr>
          <p:cNvSpPr txBox="1"/>
          <p:nvPr/>
        </p:nvSpPr>
        <p:spPr>
          <a:xfrm>
            <a:off x="-9167" y="6064881"/>
            <a:ext cx="2164977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chemeClr val="bg1">
                    <a:alpha val="70000"/>
                  </a:schemeClr>
                </a:solidFill>
                <a:cs typeface="Arial" panose="020B0604020202020204" pitchFamily="34" charset="0"/>
              </a:rPr>
              <a:t>©Robert Rathe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3F3514C1-A872-2F7D-537E-D57CA2DE540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97143" y="1458276"/>
            <a:ext cx="10753493" cy="3459164"/>
          </a:xfrm>
        </p:spPr>
        <p:txBody>
          <a:bodyPr>
            <a:normAutofit/>
          </a:bodyPr>
          <a:lstStyle/>
          <a:p>
            <a:r>
              <a:rPr lang="en-US" dirty="0"/>
              <a:t>TEXT</a:t>
            </a:r>
            <a:endParaRPr lang="en-US" dirty="0">
              <a:cs typeface="Arial" panose="020B0604020202020204" pitchFamily="34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6D80376-C6D2-0B6B-DC41-5612B6A8E0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4040" y="0"/>
            <a:ext cx="10515600" cy="1325563"/>
          </a:xfrm>
        </p:spPr>
        <p:txBody>
          <a:bodyPr>
            <a:normAutofit/>
          </a:bodyPr>
          <a:lstStyle/>
          <a:p>
            <a:r>
              <a:rPr lang="en-US" dirty="0"/>
              <a:t>TITLE</a:t>
            </a:r>
          </a:p>
        </p:txBody>
      </p:sp>
    </p:spTree>
    <p:extLst>
      <p:ext uri="{BB962C8B-B14F-4D97-AF65-F5344CB8AC3E}">
        <p14:creationId xmlns:p14="http://schemas.microsoft.com/office/powerpoint/2010/main" val="277537920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80D100-2F9C-58E0-CC30-5188ED86FC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6C72B9EF-2D84-4CEF-619F-60544E433208}"/>
              </a:ext>
            </a:extLst>
          </p:cNvPr>
          <p:cNvSpPr txBox="1"/>
          <p:nvPr/>
        </p:nvSpPr>
        <p:spPr>
          <a:xfrm>
            <a:off x="8236146" y="6075396"/>
            <a:ext cx="321449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chemeClr val="bg1">
                    <a:alpha val="70000"/>
                  </a:schemeClr>
                </a:solidFill>
                <a:cs typeface="Arial" panose="020B0604020202020204" pitchFamily="34" charset="0"/>
              </a:rPr>
              <a:t>©Nicholas McIntosh Photography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2B1EC90-BA97-2041-4CA5-06FA6863B62D}"/>
              </a:ext>
            </a:extLst>
          </p:cNvPr>
          <p:cNvSpPr txBox="1"/>
          <p:nvPr/>
        </p:nvSpPr>
        <p:spPr>
          <a:xfrm>
            <a:off x="-9167" y="6064881"/>
            <a:ext cx="2164977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chemeClr val="bg1">
                    <a:alpha val="70000"/>
                  </a:schemeClr>
                </a:solidFill>
                <a:cs typeface="Arial" panose="020B0604020202020204" pitchFamily="34" charset="0"/>
              </a:rPr>
              <a:t>©Robert Rathe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EC645B0E-0D62-24F4-FB22-E54CC10BDF4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97143" y="1458276"/>
            <a:ext cx="10753493" cy="3459164"/>
          </a:xfrm>
        </p:spPr>
        <p:txBody>
          <a:bodyPr>
            <a:normAutofit/>
          </a:bodyPr>
          <a:lstStyle/>
          <a:p>
            <a:r>
              <a:rPr lang="en-US" dirty="0"/>
              <a:t>TEXT</a:t>
            </a:r>
            <a:endParaRPr lang="en-US" dirty="0">
              <a:cs typeface="Arial" panose="020B0604020202020204" pitchFamily="34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C5D5C94-8EAB-40BD-5DA5-5D91459E50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4040" y="0"/>
            <a:ext cx="10515600" cy="1325563"/>
          </a:xfrm>
        </p:spPr>
        <p:txBody>
          <a:bodyPr>
            <a:normAutofit/>
          </a:bodyPr>
          <a:lstStyle/>
          <a:p>
            <a:r>
              <a:rPr lang="en-US" dirty="0"/>
              <a:t>TITLE</a:t>
            </a:r>
          </a:p>
        </p:txBody>
      </p:sp>
    </p:spTree>
    <p:extLst>
      <p:ext uri="{BB962C8B-B14F-4D97-AF65-F5344CB8AC3E}">
        <p14:creationId xmlns:p14="http://schemas.microsoft.com/office/powerpoint/2010/main" val="211610508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nist-overview-April-2025" id="{3FD42FA7-584E-8D48-88DF-EC9DE5878FD6}" vid="{C5EC2AA1-3D81-D24C-95C3-0CDF651FB3C1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B36DDC62D2E614B8349009FA2B533FE" ma:contentTypeVersion="4" ma:contentTypeDescription="Create a new document." ma:contentTypeScope="" ma:versionID="18725572ae5737337d1ea29df23a8a8f">
  <xsd:schema xmlns:xsd="http://www.w3.org/2001/XMLSchema" xmlns:xs="http://www.w3.org/2001/XMLSchema" xmlns:p="http://schemas.microsoft.com/office/2006/metadata/properties" xmlns:ns2="e2356c7f-9a1b-41db-8d89-51bb5d8463d9" xmlns:ns3="01fcfbda-9643-476e-88fb-ce7a1280f67e" targetNamespace="http://schemas.microsoft.com/office/2006/metadata/properties" ma:root="true" ma:fieldsID="b7bb254471d871a85256d5242377c131" ns2:_="" ns3:_="">
    <xsd:import namespace="e2356c7f-9a1b-41db-8d89-51bb5d8463d9"/>
    <xsd:import namespace="01fcfbda-9643-476e-88fb-ce7a1280f67e"/>
    <xsd:element name="properties">
      <xsd:complexType>
        <xsd:sequence>
          <xsd:element name="documentManagement">
            <xsd:complexType>
              <xsd:all>
                <xsd:element ref="ns2:SharedWithUsers" minOccurs="0"/>
                <xsd:element ref="ns2:SharedWithDetails" minOccurs="0"/>
                <xsd:element ref="ns3:MediaServiceMetadata" minOccurs="0"/>
                <xsd:element ref="ns3:MediaServiceFast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2356c7f-9a1b-41db-8d89-51bb5d8463d9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Shared With" ma:description="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Shared With Details" ma:description="" ma:internalName="SharedWithDetails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1fcfbda-9643-476e-88fb-ce7a1280f67e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10" nillable="true" ma:displayName="MediaServiceMetadata" ma:description="" ma:hidden="true" ma:internalName="MediaServiceMetadata" ma:readOnly="true">
      <xsd:simpleType>
        <xsd:restriction base="dms:Note"/>
      </xsd:simpleType>
    </xsd:element>
    <xsd:element name="MediaServiceFastMetadata" ma:index="11" nillable="true" ma:displayName="MediaServiceFastMetadata" ma:description="" ma:hidden="true" ma:internalName="MediaServiceFastMetadata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A300138A-D0B6-4BD3-A39F-6BE448948C56}">
  <ds:schemaRefs>
    <ds:schemaRef ds:uri="http://purl.org/dc/dcmitype/"/>
    <ds:schemaRef ds:uri="http://schemas.microsoft.com/office/2006/documentManagement/types"/>
    <ds:schemaRef ds:uri="http://purl.org/dc/elements/1.1/"/>
    <ds:schemaRef ds:uri="http://purl.org/dc/terms/"/>
    <ds:schemaRef ds:uri="http://schemas.microsoft.com/office/2006/metadata/properties"/>
    <ds:schemaRef ds:uri="http://schemas.microsoft.com/office/infopath/2007/PartnerControls"/>
    <ds:schemaRef ds:uri="http://www.w3.org/XML/1998/namespace"/>
    <ds:schemaRef ds:uri="01fcfbda-9643-476e-88fb-ce7a1280f67e"/>
    <ds:schemaRef ds:uri="http://schemas.openxmlformats.org/package/2006/metadata/core-properties"/>
    <ds:schemaRef ds:uri="e2356c7f-9a1b-41db-8d89-51bb5d8463d9"/>
  </ds:schemaRefs>
</ds:datastoreItem>
</file>

<file path=customXml/itemProps2.xml><?xml version="1.0" encoding="utf-8"?>
<ds:datastoreItem xmlns:ds="http://schemas.openxmlformats.org/officeDocument/2006/customXml" ds:itemID="{2153DE5F-7153-4DC3-AEDE-BDC2BC789C84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e2356c7f-9a1b-41db-8d89-51bb5d8463d9"/>
    <ds:schemaRef ds:uri="01fcfbda-9643-476e-88fb-ce7a1280f6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9F4A7EDE-2846-4720-9905-EF57A5C0C3A6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5799</TotalTime>
  <Words>377</Words>
  <Application>Microsoft Macintosh PowerPoint</Application>
  <PresentationFormat>Widescreen</PresentationFormat>
  <Paragraphs>75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8" baseType="lpstr">
      <vt:lpstr>Arial</vt:lpstr>
      <vt:lpstr>Calibri</vt:lpstr>
      <vt:lpstr>Calibri Light</vt:lpstr>
      <vt:lpstr>Century Gothic</vt:lpstr>
      <vt:lpstr>Wingdings</vt:lpstr>
      <vt:lpstr>Office Theme</vt:lpstr>
      <vt:lpstr>Interpolation for the alignment of Clock Frequency Data</vt:lpstr>
      <vt:lpstr>Missingness in comb data</vt:lpstr>
      <vt:lpstr>Visualizing all shift data </vt:lpstr>
      <vt:lpstr>Summary of “not good” shift data </vt:lpstr>
      <vt:lpstr>Determining an overlapping window of observations</vt:lpstr>
      <vt:lpstr>Overlapping window of observations</vt:lpstr>
      <vt:lpstr>Comparing MDJ for comb and shift data</vt:lpstr>
      <vt:lpstr>Time-based interpolation</vt:lpstr>
      <vt:lpstr>Interpolation via Kalman filter smoothing</vt:lpstr>
      <vt:lpstr>Other interpolation techniques</vt:lpstr>
      <vt:lpstr>TITLE</vt:lpstr>
      <vt:lpstr>TITLE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Hanacek, Natasha C. (Fed)</dc:creator>
  <cp:lastModifiedBy>Thornton, Suzanne M. (Assoc)</cp:lastModifiedBy>
  <cp:revision>154</cp:revision>
  <dcterms:created xsi:type="dcterms:W3CDTF">2018-05-08T12:44:50Z</dcterms:created>
  <dcterms:modified xsi:type="dcterms:W3CDTF">2025-12-30T22:26:17Z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0x0101007B36DDC62D2E614B8349009FA2B533FE</vt:lpwstr>
  </property>
</Properties>
</file>